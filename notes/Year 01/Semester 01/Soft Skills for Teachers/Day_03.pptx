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9"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336C28E-4D4A-4C3F-9EFB-76ADDC3AB90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55A92-1B7A-469E-8B51-3FE38D70A598}" type="slidenum">
              <a:rPr lang="en-US" smtClean="0"/>
              <a:t>‹#›</a:t>
            </a:fld>
            <a:endParaRPr lang="en-US"/>
          </a:p>
        </p:txBody>
      </p:sp>
    </p:spTree>
    <p:extLst>
      <p:ext uri="{BB962C8B-B14F-4D97-AF65-F5344CB8AC3E}">
        <p14:creationId xmlns:p14="http://schemas.microsoft.com/office/powerpoint/2010/main" val="1115766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36C28E-4D4A-4C3F-9EFB-76ADDC3AB90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55A92-1B7A-469E-8B51-3FE38D70A598}" type="slidenum">
              <a:rPr lang="en-US" smtClean="0"/>
              <a:t>‹#›</a:t>
            </a:fld>
            <a:endParaRPr lang="en-US"/>
          </a:p>
        </p:txBody>
      </p:sp>
    </p:spTree>
    <p:extLst>
      <p:ext uri="{BB962C8B-B14F-4D97-AF65-F5344CB8AC3E}">
        <p14:creationId xmlns:p14="http://schemas.microsoft.com/office/powerpoint/2010/main" val="1948773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336C28E-4D4A-4C3F-9EFB-76ADDC3AB90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55A92-1B7A-469E-8B51-3FE38D70A598}" type="slidenum">
              <a:rPr lang="en-US" smtClean="0"/>
              <a:t>‹#›</a:t>
            </a:fld>
            <a:endParaRPr lang="en-US"/>
          </a:p>
        </p:txBody>
      </p:sp>
    </p:spTree>
    <p:extLst>
      <p:ext uri="{BB962C8B-B14F-4D97-AF65-F5344CB8AC3E}">
        <p14:creationId xmlns:p14="http://schemas.microsoft.com/office/powerpoint/2010/main" val="1375519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336C28E-4D4A-4C3F-9EFB-76ADDC3AB905}"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D55A92-1B7A-469E-8B51-3FE38D70A598}" type="slidenum">
              <a:rPr lang="en-US" smtClean="0"/>
              <a:t>‹#›</a:t>
            </a:fld>
            <a:endParaRPr lang="en-US"/>
          </a:p>
        </p:txBody>
      </p:sp>
    </p:spTree>
    <p:extLst>
      <p:ext uri="{BB962C8B-B14F-4D97-AF65-F5344CB8AC3E}">
        <p14:creationId xmlns:p14="http://schemas.microsoft.com/office/powerpoint/2010/main" val="1529473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336C28E-4D4A-4C3F-9EFB-76ADDC3AB905}" type="datetimeFigureOut">
              <a:rPr lang="en-US" smtClean="0"/>
              <a:t>3/6/2026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D55A92-1B7A-469E-8B51-3FE38D70A598}" type="slidenum">
              <a:rPr lang="en-US" smtClean="0"/>
              <a:t>‹#›</a:t>
            </a:fld>
            <a:endParaRPr lang="en-US"/>
          </a:p>
        </p:txBody>
      </p:sp>
    </p:spTree>
    <p:extLst>
      <p:ext uri="{BB962C8B-B14F-4D97-AF65-F5344CB8AC3E}">
        <p14:creationId xmlns:p14="http://schemas.microsoft.com/office/powerpoint/2010/main" val="2438845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336C28E-4D4A-4C3F-9EFB-76ADDC3AB905}" type="datetimeFigureOut">
              <a:rPr lang="en-US" smtClean="0"/>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D55A92-1B7A-469E-8B51-3FE38D70A598}" type="slidenum">
              <a:rPr lang="en-US" smtClean="0"/>
              <a:t>‹#›</a:t>
            </a:fld>
            <a:endParaRPr lang="en-US"/>
          </a:p>
        </p:txBody>
      </p:sp>
    </p:spTree>
    <p:extLst>
      <p:ext uri="{BB962C8B-B14F-4D97-AF65-F5344CB8AC3E}">
        <p14:creationId xmlns:p14="http://schemas.microsoft.com/office/powerpoint/2010/main" val="1708464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36C28E-4D4A-4C3F-9EFB-76ADDC3AB905}" type="datetimeFigureOut">
              <a:rPr lang="en-US" smtClean="0"/>
              <a:t>3/6/2026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D55A92-1B7A-469E-8B51-3FE38D70A598}" type="slidenum">
              <a:rPr lang="en-US" smtClean="0"/>
              <a:t>‹#›</a:t>
            </a:fld>
            <a:endParaRPr lang="en-US"/>
          </a:p>
        </p:txBody>
      </p:sp>
    </p:spTree>
    <p:extLst>
      <p:ext uri="{BB962C8B-B14F-4D97-AF65-F5344CB8AC3E}">
        <p14:creationId xmlns:p14="http://schemas.microsoft.com/office/powerpoint/2010/main" val="109073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336C28E-4D4A-4C3F-9EFB-76ADDC3AB905}"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D55A92-1B7A-469E-8B51-3FE38D70A598}" type="slidenum">
              <a:rPr lang="en-US" smtClean="0"/>
              <a:t>‹#›</a:t>
            </a:fld>
            <a:endParaRPr lang="en-US"/>
          </a:p>
        </p:txBody>
      </p:sp>
    </p:spTree>
    <p:extLst>
      <p:ext uri="{BB962C8B-B14F-4D97-AF65-F5344CB8AC3E}">
        <p14:creationId xmlns:p14="http://schemas.microsoft.com/office/powerpoint/2010/main" val="1499274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336C28E-4D4A-4C3F-9EFB-76ADDC3AB905}"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D55A92-1B7A-469E-8B51-3FE38D70A598}" type="slidenum">
              <a:rPr lang="en-US" smtClean="0"/>
              <a:t>‹#›</a:t>
            </a:fld>
            <a:endParaRPr lang="en-US"/>
          </a:p>
        </p:txBody>
      </p:sp>
    </p:spTree>
    <p:extLst>
      <p:ext uri="{BB962C8B-B14F-4D97-AF65-F5344CB8AC3E}">
        <p14:creationId xmlns:p14="http://schemas.microsoft.com/office/powerpoint/2010/main" val="3567878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36C28E-4D4A-4C3F-9EFB-76ADDC3AB90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55A92-1B7A-469E-8B51-3FE38D70A598}" type="slidenum">
              <a:rPr lang="en-US" smtClean="0"/>
              <a:t>‹#›</a:t>
            </a:fld>
            <a:endParaRPr lang="en-US"/>
          </a:p>
        </p:txBody>
      </p:sp>
    </p:spTree>
    <p:extLst>
      <p:ext uri="{BB962C8B-B14F-4D97-AF65-F5344CB8AC3E}">
        <p14:creationId xmlns:p14="http://schemas.microsoft.com/office/powerpoint/2010/main" val="606952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36C28E-4D4A-4C3F-9EFB-76ADDC3AB90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55A92-1B7A-469E-8B51-3FE38D70A598}" type="slidenum">
              <a:rPr lang="en-US" smtClean="0"/>
              <a:t>‹#›</a:t>
            </a:fld>
            <a:endParaRPr lang="en-US"/>
          </a:p>
        </p:txBody>
      </p:sp>
    </p:spTree>
    <p:extLst>
      <p:ext uri="{BB962C8B-B14F-4D97-AF65-F5344CB8AC3E}">
        <p14:creationId xmlns:p14="http://schemas.microsoft.com/office/powerpoint/2010/main" val="3554184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36C28E-4D4A-4C3F-9EFB-76ADDC3AB905}" type="datetimeFigureOut">
              <a:rPr lang="en-US" smtClean="0"/>
              <a:t>3/6/2026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D55A92-1B7A-469E-8B51-3FE38D70A598}" type="slidenum">
              <a:rPr lang="en-US" smtClean="0"/>
              <a:t>‹#›</a:t>
            </a:fld>
            <a:endParaRPr lang="en-US"/>
          </a:p>
        </p:txBody>
      </p:sp>
    </p:spTree>
    <p:extLst>
      <p:ext uri="{BB962C8B-B14F-4D97-AF65-F5344CB8AC3E}">
        <p14:creationId xmlns:p14="http://schemas.microsoft.com/office/powerpoint/2010/main" val="1938613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What is a team </a:t>
            </a:r>
            <a:endParaRPr lang="en-US" dirty="0"/>
          </a:p>
        </p:txBody>
      </p:sp>
      <p:sp>
        <p:nvSpPr>
          <p:cNvPr id="3" name="Content Placeholder 2"/>
          <p:cNvSpPr>
            <a:spLocks noGrp="1"/>
          </p:cNvSpPr>
          <p:nvPr>
            <p:ph idx="1"/>
          </p:nvPr>
        </p:nvSpPr>
        <p:spPr/>
        <p:txBody>
          <a:bodyPr/>
          <a:lstStyle/>
          <a:p>
            <a:pPr marL="0" indent="0">
              <a:buNone/>
            </a:pPr>
            <a:r>
              <a:rPr lang="en-SG" dirty="0" smtClean="0"/>
              <a:t>A group of people who come together to </a:t>
            </a:r>
          </a:p>
          <a:p>
            <a:r>
              <a:rPr lang="en-SG" dirty="0" smtClean="0"/>
              <a:t>Solve a problem</a:t>
            </a:r>
          </a:p>
          <a:p>
            <a:r>
              <a:rPr lang="en-SG" dirty="0" smtClean="0"/>
              <a:t>Meet an objective</a:t>
            </a:r>
          </a:p>
          <a:p>
            <a:r>
              <a:rPr lang="en-SG" dirty="0" smtClean="0"/>
              <a:t>Tackle and issue </a:t>
            </a:r>
          </a:p>
          <a:p>
            <a:endParaRPr lang="en-US" dirty="0"/>
          </a:p>
        </p:txBody>
      </p:sp>
    </p:spTree>
    <p:extLst>
      <p:ext uri="{BB962C8B-B14F-4D97-AF65-F5344CB8AC3E}">
        <p14:creationId xmlns:p14="http://schemas.microsoft.com/office/powerpoint/2010/main" val="2608034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Why do teams work better </a:t>
            </a:r>
            <a:endParaRPr lang="en-US" dirty="0"/>
          </a:p>
        </p:txBody>
      </p:sp>
      <p:sp>
        <p:nvSpPr>
          <p:cNvPr id="3" name="Content Placeholder 2"/>
          <p:cNvSpPr>
            <a:spLocks noGrp="1"/>
          </p:cNvSpPr>
          <p:nvPr>
            <p:ph idx="1"/>
          </p:nvPr>
        </p:nvSpPr>
        <p:spPr/>
        <p:txBody>
          <a:bodyPr/>
          <a:lstStyle/>
          <a:p>
            <a:r>
              <a:rPr lang="en-SG" dirty="0" smtClean="0"/>
              <a:t>Talents </a:t>
            </a:r>
          </a:p>
          <a:p>
            <a:r>
              <a:rPr lang="en-SG" dirty="0" smtClean="0"/>
              <a:t>Knowledge</a:t>
            </a:r>
          </a:p>
          <a:p>
            <a:r>
              <a:rPr lang="en-SG" dirty="0" smtClean="0"/>
              <a:t>Contacts </a:t>
            </a:r>
          </a:p>
          <a:p>
            <a:r>
              <a:rPr lang="en-SG" dirty="0" smtClean="0"/>
              <a:t>Attitudes</a:t>
            </a:r>
          </a:p>
          <a:p>
            <a:pPr marL="0" indent="0">
              <a:buNone/>
            </a:pPr>
            <a:r>
              <a:rPr lang="en-SG" dirty="0" smtClean="0"/>
              <a:t> </a:t>
            </a:r>
            <a:endParaRPr lang="en-US" dirty="0"/>
          </a:p>
        </p:txBody>
      </p:sp>
    </p:spTree>
    <p:extLst>
      <p:ext uri="{BB962C8B-B14F-4D97-AF65-F5344CB8AC3E}">
        <p14:creationId xmlns:p14="http://schemas.microsoft.com/office/powerpoint/2010/main" val="3909437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sz="3600" dirty="0" smtClean="0"/>
              <a:t>John </a:t>
            </a:r>
            <a:r>
              <a:rPr lang="en-SG" sz="3600" dirty="0" err="1" smtClean="0"/>
              <a:t>Thill</a:t>
            </a:r>
            <a:r>
              <a:rPr lang="en-SG" sz="3600" dirty="0" smtClean="0"/>
              <a:t> and Courtland </a:t>
            </a:r>
            <a:r>
              <a:rPr lang="en-SG" sz="3600" dirty="0" err="1" smtClean="0"/>
              <a:t>Bovee</a:t>
            </a:r>
            <a:r>
              <a:rPr lang="en-SG" sz="3600" dirty="0" smtClean="0"/>
              <a:t> (2002) provide a valuable list to consider when setting up a team as follows:</a:t>
            </a:r>
            <a:r>
              <a:rPr lang="en-SG" dirty="0" smtClean="0"/>
              <a:t/>
            </a:r>
            <a:br>
              <a:rPr lang="en-SG" dirty="0" smtClean="0"/>
            </a:br>
            <a:endParaRPr lang="en-US" dirty="0"/>
          </a:p>
        </p:txBody>
      </p:sp>
      <p:sp>
        <p:nvSpPr>
          <p:cNvPr id="3" name="Content Placeholder 2"/>
          <p:cNvSpPr>
            <a:spLocks noGrp="1"/>
          </p:cNvSpPr>
          <p:nvPr>
            <p:ph idx="1"/>
          </p:nvPr>
        </p:nvSpPr>
        <p:spPr/>
        <p:txBody>
          <a:bodyPr>
            <a:normAutofit/>
          </a:bodyPr>
          <a:lstStyle/>
          <a:p>
            <a:endParaRPr lang="en-SG" dirty="0" smtClean="0"/>
          </a:p>
          <a:p>
            <a:r>
              <a:rPr lang="en-SG" dirty="0" smtClean="0"/>
              <a:t>Select team members wisely</a:t>
            </a:r>
          </a:p>
          <a:p>
            <a:r>
              <a:rPr lang="en-SG" dirty="0" smtClean="0"/>
              <a:t>Select a responsible leader</a:t>
            </a:r>
          </a:p>
          <a:p>
            <a:r>
              <a:rPr lang="en-SG" dirty="0" smtClean="0"/>
              <a:t>Promote cooperation</a:t>
            </a:r>
          </a:p>
          <a:p>
            <a:r>
              <a:rPr lang="en-SG" dirty="0" smtClean="0"/>
              <a:t>Clarify goals &amp; responsibilities </a:t>
            </a:r>
          </a:p>
          <a:p>
            <a:r>
              <a:rPr lang="en-SG" dirty="0" smtClean="0"/>
              <a:t>Elicit commitment</a:t>
            </a:r>
          </a:p>
          <a:p>
            <a:r>
              <a:rPr lang="en-SG" dirty="0" smtClean="0"/>
              <a:t>Provide prompt feedback</a:t>
            </a:r>
            <a:endParaRPr lang="en-US" dirty="0"/>
          </a:p>
        </p:txBody>
      </p:sp>
    </p:spTree>
    <p:extLst>
      <p:ext uri="{BB962C8B-B14F-4D97-AF65-F5344CB8AC3E}">
        <p14:creationId xmlns:p14="http://schemas.microsoft.com/office/powerpoint/2010/main" val="3442923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3 C’s  in teamwork </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SG" b="1" dirty="0" smtClean="0"/>
              <a:t>Communication</a:t>
            </a:r>
            <a:r>
              <a:rPr lang="en-SG" dirty="0" smtClean="0"/>
              <a:t> within the team should always remain open and clear, so everyone can easily understand one another. This includes setting goals and expectations together, providing feedback, encouraging dialogue and resolving conflicts through constructive discussions.</a:t>
            </a:r>
          </a:p>
          <a:p>
            <a:pPr algn="just"/>
            <a:endParaRPr lang="en-SG" dirty="0" smtClean="0"/>
          </a:p>
          <a:p>
            <a:pPr algn="just"/>
            <a:r>
              <a:rPr lang="en-SG" b="1" dirty="0" smtClean="0"/>
              <a:t>Coordination (Collaboration) </a:t>
            </a:r>
            <a:r>
              <a:rPr lang="en-SG" dirty="0" smtClean="0"/>
              <a:t> is about ensuring each member of the team knows their role in a project; it’s also important for keeping everyone on track with tasks and deadlines.</a:t>
            </a:r>
          </a:p>
          <a:p>
            <a:pPr algn="just"/>
            <a:endParaRPr lang="en-SG" dirty="0" smtClean="0"/>
          </a:p>
          <a:p>
            <a:pPr algn="just"/>
            <a:r>
              <a:rPr lang="en-SG" b="1" dirty="0" smtClean="0"/>
              <a:t>Cooperation </a:t>
            </a:r>
            <a:r>
              <a:rPr lang="en-SG" dirty="0" smtClean="0"/>
              <a:t>is essential for teams to succeed. Each member should respect the other’s ideas and opinions while working together harmoniously toward a shared goal.</a:t>
            </a:r>
            <a:endParaRPr lang="en-US" dirty="0"/>
          </a:p>
        </p:txBody>
      </p:sp>
    </p:spTree>
    <p:extLst>
      <p:ext uri="{BB962C8B-B14F-4D97-AF65-F5344CB8AC3E}">
        <p14:creationId xmlns:p14="http://schemas.microsoft.com/office/powerpoint/2010/main" val="2809917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SG" dirty="0" smtClean="0"/>
              <a:t>Types of behaviours in a team</a:t>
            </a:r>
            <a:endParaRPr lang="en-US" dirty="0"/>
          </a:p>
        </p:txBody>
      </p:sp>
      <p:sp>
        <p:nvSpPr>
          <p:cNvPr id="5" name="Text Placeholder 4"/>
          <p:cNvSpPr>
            <a:spLocks noGrp="1"/>
          </p:cNvSpPr>
          <p:nvPr>
            <p:ph type="body" idx="1"/>
          </p:nvPr>
        </p:nvSpPr>
        <p:spPr/>
        <p:txBody>
          <a:bodyPr/>
          <a:lstStyle/>
          <a:p>
            <a:r>
              <a:rPr lang="en-SG" dirty="0" smtClean="0"/>
              <a:t>Helpful </a:t>
            </a:r>
            <a:endParaRPr lang="en-US" dirty="0"/>
          </a:p>
        </p:txBody>
      </p:sp>
      <p:sp>
        <p:nvSpPr>
          <p:cNvPr id="6" name="Content Placeholder 5"/>
          <p:cNvSpPr>
            <a:spLocks noGrp="1"/>
          </p:cNvSpPr>
          <p:nvPr>
            <p:ph sz="half" idx="2"/>
          </p:nvPr>
        </p:nvSpPr>
        <p:spPr/>
        <p:txBody>
          <a:bodyPr/>
          <a:lstStyle/>
          <a:p>
            <a:r>
              <a:rPr lang="en-SG" dirty="0" smtClean="0"/>
              <a:t>Courteous and respect for others </a:t>
            </a:r>
          </a:p>
          <a:p>
            <a:r>
              <a:rPr lang="en-SG" dirty="0" smtClean="0"/>
              <a:t>Open minded</a:t>
            </a:r>
          </a:p>
          <a:p>
            <a:r>
              <a:rPr lang="en-SG" dirty="0" smtClean="0"/>
              <a:t>Active listening</a:t>
            </a:r>
          </a:p>
          <a:p>
            <a:r>
              <a:rPr lang="en-SG" dirty="0" smtClean="0"/>
              <a:t>Supportive </a:t>
            </a:r>
          </a:p>
          <a:p>
            <a:r>
              <a:rPr lang="en-SG" dirty="0" smtClean="0"/>
              <a:t>Takes on responsibility</a:t>
            </a:r>
          </a:p>
          <a:p>
            <a:endParaRPr lang="en-US" dirty="0"/>
          </a:p>
        </p:txBody>
      </p:sp>
      <p:sp>
        <p:nvSpPr>
          <p:cNvPr id="7" name="Text Placeholder 6"/>
          <p:cNvSpPr>
            <a:spLocks noGrp="1"/>
          </p:cNvSpPr>
          <p:nvPr>
            <p:ph type="body" sz="quarter" idx="3"/>
          </p:nvPr>
        </p:nvSpPr>
        <p:spPr/>
        <p:txBody>
          <a:bodyPr/>
          <a:lstStyle/>
          <a:p>
            <a:r>
              <a:rPr lang="en-SG" dirty="0" smtClean="0"/>
              <a:t>Harmful </a:t>
            </a:r>
            <a:endParaRPr lang="en-US" dirty="0"/>
          </a:p>
        </p:txBody>
      </p:sp>
      <p:sp>
        <p:nvSpPr>
          <p:cNvPr id="8" name="Content Placeholder 7"/>
          <p:cNvSpPr>
            <a:spLocks noGrp="1"/>
          </p:cNvSpPr>
          <p:nvPr>
            <p:ph sz="quarter" idx="4"/>
          </p:nvPr>
        </p:nvSpPr>
        <p:spPr/>
        <p:txBody>
          <a:bodyPr/>
          <a:lstStyle/>
          <a:p>
            <a:r>
              <a:rPr lang="en-SG" dirty="0" smtClean="0"/>
              <a:t>Critical </a:t>
            </a:r>
          </a:p>
          <a:p>
            <a:r>
              <a:rPr lang="en-SG" dirty="0" smtClean="0"/>
              <a:t>Dominating</a:t>
            </a:r>
          </a:p>
          <a:p>
            <a:r>
              <a:rPr lang="en-SG" dirty="0" smtClean="0"/>
              <a:t>Manipulative</a:t>
            </a:r>
          </a:p>
          <a:p>
            <a:r>
              <a:rPr lang="en-SG" dirty="0" smtClean="0"/>
              <a:t>Avoiding decision </a:t>
            </a:r>
          </a:p>
          <a:p>
            <a:r>
              <a:rPr lang="en-SG" dirty="0" smtClean="0"/>
              <a:t>Passive</a:t>
            </a:r>
          </a:p>
          <a:p>
            <a:r>
              <a:rPr lang="en-SG" dirty="0" smtClean="0"/>
              <a:t>Aggressive </a:t>
            </a:r>
          </a:p>
          <a:p>
            <a:r>
              <a:rPr lang="en-SG" dirty="0" smtClean="0"/>
              <a:t>Does not take responsibility </a:t>
            </a:r>
          </a:p>
          <a:p>
            <a:endParaRPr lang="en-US" dirty="0"/>
          </a:p>
        </p:txBody>
      </p:sp>
    </p:spTree>
    <p:extLst>
      <p:ext uri="{BB962C8B-B14F-4D97-AF65-F5344CB8AC3E}">
        <p14:creationId xmlns:p14="http://schemas.microsoft.com/office/powerpoint/2010/main" val="132143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SG" dirty="0" smtClean="0"/>
              <a:t>Ways to involve team members </a:t>
            </a:r>
            <a:endParaRPr lang="en-US" dirty="0"/>
          </a:p>
        </p:txBody>
      </p:sp>
      <p:sp>
        <p:nvSpPr>
          <p:cNvPr id="8" name="Content Placeholder 7"/>
          <p:cNvSpPr>
            <a:spLocks noGrp="1"/>
          </p:cNvSpPr>
          <p:nvPr>
            <p:ph idx="1"/>
          </p:nvPr>
        </p:nvSpPr>
        <p:spPr/>
        <p:txBody>
          <a:bodyPr/>
          <a:lstStyle/>
          <a:p>
            <a:r>
              <a:rPr lang="en-SG" dirty="0" smtClean="0"/>
              <a:t>Divide tasks</a:t>
            </a:r>
          </a:p>
          <a:p>
            <a:r>
              <a:rPr lang="en-SG" dirty="0" smtClean="0"/>
              <a:t>Ask open ended questions </a:t>
            </a:r>
          </a:p>
          <a:p>
            <a:r>
              <a:rPr lang="en-SG" dirty="0" smtClean="0"/>
              <a:t>Ask opinions ideas</a:t>
            </a:r>
          </a:p>
          <a:p>
            <a:r>
              <a:rPr lang="en-SG" dirty="0" smtClean="0"/>
              <a:t>Rotate roles</a:t>
            </a:r>
          </a:p>
          <a:p>
            <a:endParaRPr lang="en-SG" dirty="0" smtClean="0"/>
          </a:p>
          <a:p>
            <a:endParaRPr lang="en-US" dirty="0"/>
          </a:p>
        </p:txBody>
      </p:sp>
    </p:spTree>
    <p:extLst>
      <p:ext uri="{BB962C8B-B14F-4D97-AF65-F5344CB8AC3E}">
        <p14:creationId xmlns:p14="http://schemas.microsoft.com/office/powerpoint/2010/main" val="1768843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Dysfunctions in a team </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3873146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Process of making decisions in a team </a:t>
            </a:r>
            <a:endParaRPr lang="en-US" dirty="0"/>
          </a:p>
        </p:txBody>
      </p:sp>
      <p:sp>
        <p:nvSpPr>
          <p:cNvPr id="3" name="Content Placeholder 2"/>
          <p:cNvSpPr>
            <a:spLocks noGrp="1"/>
          </p:cNvSpPr>
          <p:nvPr>
            <p:ph idx="1"/>
          </p:nvPr>
        </p:nvSpPr>
        <p:spPr/>
        <p:txBody>
          <a:bodyPr/>
          <a:lstStyle/>
          <a:p>
            <a:r>
              <a:rPr lang="en-SG" dirty="0" smtClean="0"/>
              <a:t>Gather information </a:t>
            </a:r>
          </a:p>
          <a:p>
            <a:r>
              <a:rPr lang="en-SG" dirty="0" smtClean="0"/>
              <a:t>Analyse information </a:t>
            </a:r>
          </a:p>
          <a:p>
            <a:r>
              <a:rPr lang="en-SG" dirty="0" smtClean="0"/>
              <a:t>Generate  ideas</a:t>
            </a:r>
          </a:p>
          <a:p>
            <a:r>
              <a:rPr lang="en-SG" dirty="0" smtClean="0"/>
              <a:t>Shortlist and analyse ideas discussing alternatives. Give all ideas equal consideration </a:t>
            </a:r>
          </a:p>
          <a:p>
            <a:r>
              <a:rPr lang="en-SG" dirty="0" smtClean="0"/>
              <a:t>Decide with consensus </a:t>
            </a:r>
          </a:p>
          <a:p>
            <a:endParaRPr lang="en-SG" dirty="0" smtClean="0"/>
          </a:p>
          <a:p>
            <a:r>
              <a:rPr lang="en-SG" b="1" dirty="0" smtClean="0"/>
              <a:t>Don’t forget to set objectives and time restrictions when meeting</a:t>
            </a:r>
          </a:p>
          <a:p>
            <a:endParaRPr lang="en-US" dirty="0"/>
          </a:p>
        </p:txBody>
      </p:sp>
    </p:spTree>
    <p:extLst>
      <p:ext uri="{BB962C8B-B14F-4D97-AF65-F5344CB8AC3E}">
        <p14:creationId xmlns:p14="http://schemas.microsoft.com/office/powerpoint/2010/main" val="850785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Who is a leader ?</a:t>
            </a:r>
            <a:endParaRPr lang="en-US" dirty="0"/>
          </a:p>
        </p:txBody>
      </p:sp>
      <p:sp>
        <p:nvSpPr>
          <p:cNvPr id="3" name="Content Placeholder 2"/>
          <p:cNvSpPr>
            <a:spLocks noGrp="1"/>
          </p:cNvSpPr>
          <p:nvPr>
            <p:ph idx="1"/>
          </p:nvPr>
        </p:nvSpPr>
        <p:spPr/>
        <p:txBody>
          <a:bodyPr/>
          <a:lstStyle/>
          <a:p>
            <a:pPr marL="0" indent="0">
              <a:buNone/>
            </a:pPr>
            <a:r>
              <a:rPr lang="en-SG" dirty="0" smtClean="0"/>
              <a:t>Leadership as the process of influencing a group to achieve goals.</a:t>
            </a:r>
          </a:p>
          <a:p>
            <a:pPr marL="0" indent="0">
              <a:buNone/>
            </a:pPr>
            <a:r>
              <a:rPr lang="en-US" dirty="0" smtClean="0"/>
              <a:t>(Robbins &amp; Coulter, 2017)</a:t>
            </a:r>
            <a:endParaRPr lang="en-US" dirty="0"/>
          </a:p>
        </p:txBody>
      </p:sp>
      <p:sp>
        <p:nvSpPr>
          <p:cNvPr id="4" name="TextBox 3"/>
          <p:cNvSpPr txBox="1"/>
          <p:nvPr/>
        </p:nvSpPr>
        <p:spPr>
          <a:xfrm>
            <a:off x="7812109" y="4494727"/>
            <a:ext cx="3541691" cy="923330"/>
          </a:xfrm>
          <a:prstGeom prst="rect">
            <a:avLst/>
          </a:prstGeom>
          <a:noFill/>
        </p:spPr>
        <p:txBody>
          <a:bodyPr wrap="square" rtlCol="0">
            <a:spAutoFit/>
          </a:bodyPr>
          <a:lstStyle/>
          <a:p>
            <a:r>
              <a:rPr lang="en-SG" b="1" dirty="0" smtClean="0">
                <a:solidFill>
                  <a:schemeClr val="accent2"/>
                </a:solidFill>
              </a:rPr>
              <a:t>Reflection </a:t>
            </a:r>
          </a:p>
          <a:p>
            <a:endParaRPr lang="en-SG" b="1" dirty="0">
              <a:solidFill>
                <a:schemeClr val="accent2"/>
              </a:solidFill>
            </a:endParaRPr>
          </a:p>
          <a:p>
            <a:r>
              <a:rPr lang="en-SG" b="1" dirty="0" smtClean="0">
                <a:solidFill>
                  <a:schemeClr val="accent2"/>
                </a:solidFill>
              </a:rPr>
              <a:t>Are leaders born or made? </a:t>
            </a:r>
            <a:endParaRPr lang="en-US" b="1" dirty="0">
              <a:solidFill>
                <a:schemeClr val="accent2"/>
              </a:solidFill>
            </a:endParaRPr>
          </a:p>
        </p:txBody>
      </p:sp>
    </p:spTree>
    <p:extLst>
      <p:ext uri="{BB962C8B-B14F-4D97-AF65-F5344CB8AC3E}">
        <p14:creationId xmlns:p14="http://schemas.microsoft.com/office/powerpoint/2010/main" val="2943711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Types of leaders </a:t>
            </a:r>
            <a:endParaRPr lang="en-US" dirty="0"/>
          </a:p>
        </p:txBody>
      </p:sp>
      <p:sp>
        <p:nvSpPr>
          <p:cNvPr id="3" name="Content Placeholder 2"/>
          <p:cNvSpPr>
            <a:spLocks noGrp="1"/>
          </p:cNvSpPr>
          <p:nvPr>
            <p:ph idx="1"/>
          </p:nvPr>
        </p:nvSpPr>
        <p:spPr/>
        <p:txBody>
          <a:bodyPr/>
          <a:lstStyle/>
          <a:p>
            <a:r>
              <a:rPr lang="en-SG" dirty="0" smtClean="0"/>
              <a:t>Autocratic</a:t>
            </a:r>
          </a:p>
          <a:p>
            <a:r>
              <a:rPr lang="en-SG" dirty="0" smtClean="0"/>
              <a:t>Democratic</a:t>
            </a:r>
          </a:p>
          <a:p>
            <a:r>
              <a:rPr lang="en-SG" dirty="0" smtClean="0"/>
              <a:t> Laissez Faire Style</a:t>
            </a:r>
          </a:p>
          <a:p>
            <a:endParaRPr lang="en-SG" dirty="0" smtClean="0"/>
          </a:p>
          <a:p>
            <a:pPr marL="0" indent="0">
              <a:buNone/>
            </a:pPr>
            <a:r>
              <a:rPr lang="en-SG" dirty="0" smtClean="0"/>
              <a:t> (Kurt </a:t>
            </a:r>
            <a:r>
              <a:rPr lang="en-SG" dirty="0" err="1" smtClean="0"/>
              <a:t>Lewin</a:t>
            </a:r>
            <a:r>
              <a:rPr lang="en-SG" dirty="0" smtClean="0"/>
              <a:t>, IOWA university Studies )</a:t>
            </a:r>
            <a:endParaRPr lang="en-US" dirty="0"/>
          </a:p>
        </p:txBody>
      </p:sp>
    </p:spTree>
    <p:extLst>
      <p:ext uri="{BB962C8B-B14F-4D97-AF65-F5344CB8AC3E}">
        <p14:creationId xmlns:p14="http://schemas.microsoft.com/office/powerpoint/2010/main" val="1271981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Key Leadership Qualities</a:t>
            </a:r>
            <a:endParaRPr lang="en-US" dirty="0"/>
          </a:p>
        </p:txBody>
      </p:sp>
      <p:sp>
        <p:nvSpPr>
          <p:cNvPr id="3" name="Content Placeholder 2"/>
          <p:cNvSpPr>
            <a:spLocks noGrp="1"/>
          </p:cNvSpPr>
          <p:nvPr>
            <p:ph idx="1"/>
          </p:nvPr>
        </p:nvSpPr>
        <p:spPr/>
        <p:txBody>
          <a:bodyPr/>
          <a:lstStyle/>
          <a:p>
            <a:endParaRPr lang="en-SG" dirty="0" smtClean="0"/>
          </a:p>
          <a:p>
            <a:r>
              <a:rPr lang="en-SG" dirty="0" smtClean="0"/>
              <a:t>Communication skills</a:t>
            </a:r>
          </a:p>
          <a:p>
            <a:r>
              <a:rPr lang="en-SG" dirty="0" smtClean="0"/>
              <a:t>Empathy and emotional intelligence</a:t>
            </a:r>
          </a:p>
          <a:p>
            <a:r>
              <a:rPr lang="en-SG" dirty="0" smtClean="0"/>
              <a:t>Decision-making ability</a:t>
            </a:r>
          </a:p>
          <a:p>
            <a:r>
              <a:rPr lang="en-SG" dirty="0" smtClean="0"/>
              <a:t>Integrity and honesty</a:t>
            </a:r>
          </a:p>
          <a:p>
            <a:r>
              <a:rPr lang="en-SG" dirty="0" smtClean="0"/>
              <a:t>Creativity and problem-solving</a:t>
            </a:r>
            <a:endParaRPr lang="en-US" dirty="0"/>
          </a:p>
        </p:txBody>
      </p:sp>
      <p:sp>
        <p:nvSpPr>
          <p:cNvPr id="4" name="TextBox 3"/>
          <p:cNvSpPr txBox="1"/>
          <p:nvPr/>
        </p:nvSpPr>
        <p:spPr>
          <a:xfrm>
            <a:off x="8249478" y="3766417"/>
            <a:ext cx="3104322" cy="923330"/>
          </a:xfrm>
          <a:prstGeom prst="rect">
            <a:avLst/>
          </a:prstGeom>
          <a:noFill/>
        </p:spPr>
        <p:txBody>
          <a:bodyPr wrap="square" rtlCol="0">
            <a:spAutoFit/>
          </a:bodyPr>
          <a:lstStyle/>
          <a:p>
            <a:r>
              <a:rPr lang="en-SG" b="1" dirty="0" smtClean="0">
                <a:solidFill>
                  <a:schemeClr val="accent2"/>
                </a:solidFill>
              </a:rPr>
              <a:t>list leaders you  admire and identify which qualities these leaders demonstrate.</a:t>
            </a:r>
            <a:endParaRPr lang="en-US" b="1" dirty="0">
              <a:solidFill>
                <a:schemeClr val="accent2"/>
              </a:solidFill>
            </a:endParaRPr>
          </a:p>
        </p:txBody>
      </p:sp>
    </p:spTree>
    <p:extLst>
      <p:ext uri="{BB962C8B-B14F-4D97-AF65-F5344CB8AC3E}">
        <p14:creationId xmlns:p14="http://schemas.microsoft.com/office/powerpoint/2010/main" val="1589534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Practical Leadership Skills</a:t>
            </a:r>
            <a:endParaRPr lang="en-US" dirty="0"/>
          </a:p>
        </p:txBody>
      </p:sp>
      <p:sp>
        <p:nvSpPr>
          <p:cNvPr id="3" name="Content Placeholder 2"/>
          <p:cNvSpPr>
            <a:spLocks noGrp="1"/>
          </p:cNvSpPr>
          <p:nvPr>
            <p:ph idx="1"/>
          </p:nvPr>
        </p:nvSpPr>
        <p:spPr/>
        <p:txBody>
          <a:bodyPr/>
          <a:lstStyle/>
          <a:p>
            <a:r>
              <a:rPr lang="en-SG" dirty="0" smtClean="0"/>
              <a:t>Teamwork</a:t>
            </a:r>
          </a:p>
          <a:p>
            <a:r>
              <a:rPr lang="en-SG" dirty="0" smtClean="0"/>
              <a:t>Decision-making</a:t>
            </a:r>
          </a:p>
          <a:p>
            <a:r>
              <a:rPr lang="en-SG" dirty="0" smtClean="0"/>
              <a:t>Communication</a:t>
            </a:r>
          </a:p>
          <a:p>
            <a:r>
              <a:rPr lang="en-SG" dirty="0" smtClean="0"/>
              <a:t>Problem-solving</a:t>
            </a:r>
            <a:endParaRPr lang="en-US" dirty="0"/>
          </a:p>
        </p:txBody>
      </p:sp>
    </p:spTree>
    <p:extLst>
      <p:ext uri="{BB962C8B-B14F-4D97-AF65-F5344CB8AC3E}">
        <p14:creationId xmlns:p14="http://schemas.microsoft.com/office/powerpoint/2010/main" val="1521495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TASK</a:t>
            </a:r>
            <a:endParaRPr lang="en-US" dirty="0"/>
          </a:p>
        </p:txBody>
      </p:sp>
      <p:sp>
        <p:nvSpPr>
          <p:cNvPr id="3" name="Content Placeholder 2"/>
          <p:cNvSpPr>
            <a:spLocks noGrp="1"/>
          </p:cNvSpPr>
          <p:nvPr>
            <p:ph idx="1"/>
          </p:nvPr>
        </p:nvSpPr>
        <p:spPr/>
        <p:txBody>
          <a:bodyPr/>
          <a:lstStyle/>
          <a:p>
            <a:r>
              <a:rPr lang="en-SG" dirty="0" smtClean="0"/>
              <a:t>Analyse the activities your group carried out during the previous sessions and this morning. Apply the various things you have learned about teamwork and leadership, and explain your findings. How could your group improve future performance?</a:t>
            </a:r>
            <a:endParaRPr lang="en-US" dirty="0"/>
          </a:p>
        </p:txBody>
      </p:sp>
    </p:spTree>
    <p:extLst>
      <p:ext uri="{BB962C8B-B14F-4D97-AF65-F5344CB8AC3E}">
        <p14:creationId xmlns:p14="http://schemas.microsoft.com/office/powerpoint/2010/main" val="3855681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TotalTime>
  <Words>372</Words>
  <Application>Microsoft Office PowerPoint</Application>
  <PresentationFormat>Widescreen</PresentationFormat>
  <Paragraphs>81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What is a team </vt:lpstr>
      <vt:lpstr>Why do teams work better </vt:lpstr>
      <vt:lpstr>John Thill and Courtland Bovee (2002) provide a valuable list to consider when setting up a team as follows: </vt:lpstr>
      <vt:lpstr>3 C’s  in teamwork </vt:lpstr>
      <vt:lpstr>Types of behaviours in a team</vt:lpstr>
      <vt:lpstr>Ways to involve team members </vt:lpstr>
      <vt:lpstr>Dysfunctions in a team </vt:lpstr>
      <vt:lpstr>Process of making decisions in a team </vt:lpstr>
      <vt:lpstr>Who is a leader ?</vt:lpstr>
      <vt:lpstr>Types of leaders </vt:lpstr>
      <vt:lpstr>Key Leadership Qualities</vt:lpstr>
      <vt:lpstr>Practical Leadership Skills</vt:lpstr>
      <vt:lpstr>TASK</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12</cp:revision>
  <dcterms:created xsi:type="dcterms:W3CDTF">2026-03-06T14:41:51Z</dcterms:created>
  <dcterms:modified xsi:type="dcterms:W3CDTF">2026-03-06T17:59:15Z</dcterms:modified>
</cp:coreProperties>
</file>
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2" r:id="rId2"/>
    <p:sldId id="256" r:id="rId3"/>
    <p:sldId id="277" r:id="rId4"/>
    <p:sldId id="278" r:id="rId5"/>
    <p:sldId id="268" r:id="rId6"/>
    <p:sldId id="263" r:id="rId7"/>
    <p:sldId id="264" r:id="rId8"/>
    <p:sldId id="258" r:id="rId9"/>
    <p:sldId id="265" r:id="rId10"/>
    <p:sldId id="266" r:id="rId11"/>
    <p:sldId id="270" r:id="rId12"/>
    <p:sldId id="267" r:id="rId13"/>
    <p:sldId id="259" r:id="rId14"/>
    <p:sldId id="279" r:id="rId15"/>
    <p:sldId id="281" r:id="rId16"/>
    <p:sldId id="282" r:id="rId17"/>
    <p:sldId id="283" r:id="rId18"/>
    <p:sldId id="284" r:id="rId19"/>
    <p:sldId id="288" r:id="rId20"/>
    <p:sldId id="289" r:id="rId21"/>
    <p:sldId id="291" r:id="rId22"/>
    <p:sldId id="292" r:id="rId23"/>
    <p:sldId id="293" r:id="rId24"/>
    <p:sldId id="294" r:id="rId25"/>
    <p:sldId id="295" r:id="rId26"/>
    <p:sldId id="296" r:id="rId27"/>
    <p:sldId id="302" r:id="rId28"/>
    <p:sldId id="303" r:id="rId29"/>
    <p:sldId id="298" r:id="rId30"/>
    <p:sldId id="299" r:id="rId31"/>
    <p:sldId id="300" r:id="rId32"/>
    <p:sldId id="30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74" d="100"/>
          <a:sy n="74" d="100"/>
        </p:scale>
        <p:origin x="6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D98E149-AE14-403D-AC8F-F912FAC7874C}"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EAA63D-D896-4425-89AD-6AE7C1070C3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6745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D98E149-AE14-403D-AC8F-F912FAC7874C}"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EAA63D-D896-4425-89AD-6AE7C1070C39}" type="slidenum">
              <a:rPr lang="en-US" smtClean="0"/>
              <a:t>‹#›</a:t>
            </a:fld>
            <a:endParaRPr lang="en-US"/>
          </a:p>
        </p:txBody>
      </p:sp>
    </p:spTree>
    <p:extLst>
      <p:ext uri="{BB962C8B-B14F-4D97-AF65-F5344CB8AC3E}">
        <p14:creationId xmlns:p14="http://schemas.microsoft.com/office/powerpoint/2010/main" val="2788611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D98E149-AE14-403D-AC8F-F912FAC7874C}"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EAA63D-D896-4425-89AD-6AE7C1070C3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7943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D98E149-AE14-403D-AC8F-F912FAC7874C}"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EAA63D-D896-4425-89AD-6AE7C1070C39}" type="slidenum">
              <a:rPr lang="en-US" smtClean="0"/>
              <a:t>‹#›</a:t>
            </a:fld>
            <a:endParaRPr lang="en-US"/>
          </a:p>
        </p:txBody>
      </p:sp>
    </p:spTree>
    <p:extLst>
      <p:ext uri="{BB962C8B-B14F-4D97-AF65-F5344CB8AC3E}">
        <p14:creationId xmlns:p14="http://schemas.microsoft.com/office/powerpoint/2010/main" val="2705400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D98E149-AE14-403D-AC8F-F912FAC7874C}"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EAA63D-D896-4425-89AD-6AE7C1070C39}" type="slidenum">
              <a:rPr lang="en-US" smtClean="0"/>
              <a:t>‹#›</a:t>
            </a:fld>
            <a:endParaRPr lang="en-US"/>
          </a:p>
        </p:txBody>
      </p:sp>
    </p:spTree>
    <p:extLst>
      <p:ext uri="{BB962C8B-B14F-4D97-AF65-F5344CB8AC3E}">
        <p14:creationId xmlns:p14="http://schemas.microsoft.com/office/powerpoint/2010/main" val="2585672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D98E149-AE14-403D-AC8F-F912FAC7874C}"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EAA63D-D896-4425-89AD-6AE7C1070C39}" type="slidenum">
              <a:rPr lang="en-US" smtClean="0"/>
              <a:t>‹#›</a:t>
            </a:fld>
            <a:endParaRPr lang="en-US"/>
          </a:p>
        </p:txBody>
      </p:sp>
    </p:spTree>
    <p:extLst>
      <p:ext uri="{BB962C8B-B14F-4D97-AF65-F5344CB8AC3E}">
        <p14:creationId xmlns:p14="http://schemas.microsoft.com/office/powerpoint/2010/main" val="712912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D98E149-AE14-403D-AC8F-F912FAC7874C}" type="datetimeFigureOut">
              <a:rPr lang="en-US" smtClean="0"/>
              <a:t>2/26/2026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DEAA63D-D896-4425-89AD-6AE7C1070C39}" type="slidenum">
              <a:rPr lang="en-US" smtClean="0"/>
              <a:t>‹#›</a:t>
            </a:fld>
            <a:endParaRPr lang="en-US"/>
          </a:p>
        </p:txBody>
      </p:sp>
    </p:spTree>
    <p:extLst>
      <p:ext uri="{BB962C8B-B14F-4D97-AF65-F5344CB8AC3E}">
        <p14:creationId xmlns:p14="http://schemas.microsoft.com/office/powerpoint/2010/main" val="2716669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D98E149-AE14-403D-AC8F-F912FAC7874C}" type="datetimeFigureOut">
              <a:rPr lang="en-US" smtClean="0"/>
              <a:t>2/26/2026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DEAA63D-D896-4425-89AD-6AE7C1070C39}" type="slidenum">
              <a:rPr lang="en-US" smtClean="0"/>
              <a:t>‹#›</a:t>
            </a:fld>
            <a:endParaRPr lang="en-US"/>
          </a:p>
        </p:txBody>
      </p:sp>
    </p:spTree>
    <p:extLst>
      <p:ext uri="{BB962C8B-B14F-4D97-AF65-F5344CB8AC3E}">
        <p14:creationId xmlns:p14="http://schemas.microsoft.com/office/powerpoint/2010/main" val="2777160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D98E149-AE14-403D-AC8F-F912FAC7874C}"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EAA63D-D896-4425-89AD-6AE7C1070C39}" type="slidenum">
              <a:rPr lang="en-US" smtClean="0"/>
              <a:t>‹#›</a:t>
            </a:fld>
            <a:endParaRPr lang="en-US"/>
          </a:p>
        </p:txBody>
      </p:sp>
    </p:spTree>
    <p:extLst>
      <p:ext uri="{BB962C8B-B14F-4D97-AF65-F5344CB8AC3E}">
        <p14:creationId xmlns:p14="http://schemas.microsoft.com/office/powerpoint/2010/main" val="3551455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D98E149-AE14-403D-AC8F-F912FAC7874C}"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EAA63D-D896-4425-89AD-6AE7C1070C39}" type="slidenum">
              <a:rPr lang="en-US" smtClean="0"/>
              <a:t>‹#›</a:t>
            </a:fld>
            <a:endParaRPr lang="en-US"/>
          </a:p>
        </p:txBody>
      </p:sp>
    </p:spTree>
    <p:extLst>
      <p:ext uri="{BB962C8B-B14F-4D97-AF65-F5344CB8AC3E}">
        <p14:creationId xmlns:p14="http://schemas.microsoft.com/office/powerpoint/2010/main" val="408140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D98E149-AE14-403D-AC8F-F912FAC7874C}"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EAA63D-D896-4425-89AD-6AE7C1070C39}" type="slidenum">
              <a:rPr lang="en-US" smtClean="0"/>
              <a:t>‹#›</a:t>
            </a:fld>
            <a:endParaRPr lang="en-US"/>
          </a:p>
        </p:txBody>
      </p:sp>
    </p:spTree>
    <p:extLst>
      <p:ext uri="{BB962C8B-B14F-4D97-AF65-F5344CB8AC3E}">
        <p14:creationId xmlns:p14="http://schemas.microsoft.com/office/powerpoint/2010/main" val="3589263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D98E149-AE14-403D-AC8F-F912FAC7874C}" type="datetimeFigureOut">
              <a:rPr lang="en-US" smtClean="0"/>
              <a:t>2/26/2026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DEAA63D-D896-4425-89AD-6AE7C1070C3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15135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SG" b="1" dirty="0" smtClean="0"/>
              <a:t>Philosophical view on time</a:t>
            </a:r>
            <a:endParaRPr lang="en-US" dirty="0"/>
          </a:p>
        </p:txBody>
      </p:sp>
      <p:sp>
        <p:nvSpPr>
          <p:cNvPr id="3" name="Content Placeholder 2"/>
          <p:cNvSpPr>
            <a:spLocks noGrp="1"/>
          </p:cNvSpPr>
          <p:nvPr>
            <p:ph idx="1"/>
          </p:nvPr>
        </p:nvSpPr>
        <p:spPr>
          <a:xfrm>
            <a:off x="934894" y="2226913"/>
            <a:ext cx="10515600" cy="4351338"/>
          </a:xfrm>
        </p:spPr>
        <p:txBody>
          <a:bodyPr/>
          <a:lstStyle/>
          <a:p>
            <a:pPr marL="0" indent="0" algn="ctr">
              <a:buNone/>
            </a:pPr>
            <a:r>
              <a:rPr lang="en-SG" i="1" dirty="0"/>
              <a:t>This is our big mistake: to think we look forward to death. Most of death is already gone. Whatever time has passed is owned by death.” –  </a:t>
            </a:r>
            <a:r>
              <a:rPr lang="en-SG" i="1" dirty="0" smtClean="0"/>
              <a:t>- Seneca</a:t>
            </a:r>
            <a:endParaRPr lang="en-SG" i="1" dirty="0"/>
          </a:p>
          <a:p>
            <a:pPr marL="0" indent="0">
              <a:buNone/>
            </a:pPr>
            <a:endParaRPr lang="en-SG" dirty="0"/>
          </a:p>
          <a:p>
            <a:pPr marL="0" indent="0">
              <a:buNone/>
            </a:pPr>
            <a:r>
              <a:rPr lang="en-SG" i="1" dirty="0"/>
              <a:t>“People are frugal in guarding their personal property; but as soon as it comes to squandering time they are most wasteful of the one thing in which it is right to be stingy.” — Seneca</a:t>
            </a:r>
            <a:endParaRPr lang="en-US" dirty="0"/>
          </a:p>
        </p:txBody>
      </p:sp>
    </p:spTree>
    <p:extLst>
      <p:ext uri="{BB962C8B-B14F-4D97-AF65-F5344CB8AC3E}">
        <p14:creationId xmlns:p14="http://schemas.microsoft.com/office/powerpoint/2010/main" val="29113336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23850" y="400050"/>
            <a:ext cx="11582400" cy="6162675"/>
          </a:xfrm>
          <a:prstGeom prst="rect">
            <a:avLst/>
          </a:prstGeom>
        </p:spPr>
      </p:pic>
    </p:spTree>
    <p:extLst>
      <p:ext uri="{BB962C8B-B14F-4D97-AF65-F5344CB8AC3E}">
        <p14:creationId xmlns:p14="http://schemas.microsoft.com/office/powerpoint/2010/main" val="18980909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SG" dirty="0" smtClean="0"/>
              <a:t>Time Management </a:t>
            </a:r>
            <a:endParaRPr lang="en-US" dirty="0"/>
          </a:p>
        </p:txBody>
      </p:sp>
      <p:sp>
        <p:nvSpPr>
          <p:cNvPr id="5" name="Subtitle 4"/>
          <p:cNvSpPr>
            <a:spLocks noGrp="1"/>
          </p:cNvSpPr>
          <p:nvPr>
            <p:ph type="subTitle" idx="1"/>
          </p:nvPr>
        </p:nvSpPr>
        <p:spPr/>
        <p:txBody>
          <a:bodyPr/>
          <a:lstStyle/>
          <a:p>
            <a:endParaRPr lang="en-US" b="1" dirty="0"/>
          </a:p>
        </p:txBody>
      </p:sp>
    </p:spTree>
    <p:extLst>
      <p:ext uri="{BB962C8B-B14F-4D97-AF65-F5344CB8AC3E}">
        <p14:creationId xmlns:p14="http://schemas.microsoft.com/office/powerpoint/2010/main" val="37098338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Objectives</a:t>
            </a:r>
            <a:endParaRPr lang="en-US" dirty="0"/>
          </a:p>
        </p:txBody>
      </p:sp>
      <p:sp>
        <p:nvSpPr>
          <p:cNvPr id="3" name="Content Placeholder 2"/>
          <p:cNvSpPr>
            <a:spLocks noGrp="1"/>
          </p:cNvSpPr>
          <p:nvPr>
            <p:ph idx="1"/>
          </p:nvPr>
        </p:nvSpPr>
        <p:spPr/>
        <p:txBody>
          <a:bodyPr>
            <a:normAutofit/>
          </a:bodyPr>
          <a:lstStyle/>
          <a:p>
            <a:pPr marL="0" indent="0">
              <a:buNone/>
            </a:pPr>
            <a:r>
              <a:rPr lang="en-US" sz="2800" dirty="0"/>
              <a:t>At the end of this lesson </a:t>
            </a:r>
            <a:r>
              <a:rPr lang="en-US" sz="2800" dirty="0" smtClean="0"/>
              <a:t>you will </a:t>
            </a:r>
            <a:r>
              <a:rPr lang="en-US" sz="2800" dirty="0"/>
              <a:t>be able to </a:t>
            </a:r>
          </a:p>
          <a:p>
            <a:pPr>
              <a:buFont typeface="Arial" panose="020B0604020202020204" pitchFamily="34" charset="0"/>
              <a:buChar char="•"/>
            </a:pPr>
            <a:r>
              <a:rPr lang="en-US" sz="2800" dirty="0"/>
              <a:t>Understand the importance of time management and common time-related challenges.</a:t>
            </a:r>
          </a:p>
          <a:p>
            <a:pPr>
              <a:buFont typeface="Arial" panose="020B0604020202020204" pitchFamily="34" charset="0"/>
              <a:buChar char="•"/>
            </a:pPr>
            <a:r>
              <a:rPr lang="en-US" sz="2800" dirty="0"/>
              <a:t>Apply strategies to overcome them </a:t>
            </a:r>
          </a:p>
        </p:txBody>
      </p:sp>
    </p:spTree>
    <p:extLst>
      <p:ext uri="{BB962C8B-B14F-4D97-AF65-F5344CB8AC3E}">
        <p14:creationId xmlns:p14="http://schemas.microsoft.com/office/powerpoint/2010/main" val="41631773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Time </a:t>
            </a:r>
            <a:endParaRPr lang="en-US" dirty="0"/>
          </a:p>
        </p:txBody>
      </p:sp>
      <p:sp>
        <p:nvSpPr>
          <p:cNvPr id="3" name="Content Placeholder 2"/>
          <p:cNvSpPr>
            <a:spLocks noGrp="1"/>
          </p:cNvSpPr>
          <p:nvPr>
            <p:ph idx="1"/>
          </p:nvPr>
        </p:nvSpPr>
        <p:spPr/>
        <p:txBody>
          <a:bodyPr>
            <a:normAutofit/>
          </a:bodyPr>
          <a:lstStyle/>
          <a:p>
            <a:pPr marL="0" indent="0" algn="just">
              <a:buNone/>
            </a:pPr>
            <a:r>
              <a:rPr lang="en-SG" dirty="0"/>
              <a:t>"Time" is the continuous progression of events from the past, through the present, and into the future. It’s often measured in units like seconds, minutes, hours, days, and years, giving structure to our experiences and activities. Time enables us to sequence events, understand duration, and manage our daily lives</a:t>
            </a:r>
            <a:r>
              <a:rPr lang="en-SG" dirty="0" smtClean="0"/>
              <a:t>.</a:t>
            </a:r>
          </a:p>
          <a:p>
            <a:pPr marL="0" indent="0" algn="just">
              <a:buNone/>
            </a:pPr>
            <a:r>
              <a:rPr lang="en-SG" dirty="0" smtClean="0"/>
              <a:t>In </a:t>
            </a:r>
            <a:r>
              <a:rPr lang="en-SG" dirty="0"/>
              <a:t>physics, time is one of the fundamental dimensions of the universe, intertwined with space. Einstein’s theory of relativity suggests that time can vary based on speed and gravity, making it a more complex concept than just the ticking of a clock</a:t>
            </a:r>
            <a:r>
              <a:rPr lang="en-SG" dirty="0" smtClean="0"/>
              <a:t>.</a:t>
            </a:r>
          </a:p>
          <a:p>
            <a:pPr marL="0" indent="0" algn="just">
              <a:buNone/>
            </a:pPr>
            <a:r>
              <a:rPr lang="en-SG" dirty="0" smtClean="0"/>
              <a:t>In </a:t>
            </a:r>
            <a:r>
              <a:rPr lang="en-SG" dirty="0"/>
              <a:t>our everyday lives, time is a practical tool for organizing and planning. It allows us to set goals, meet deadlines, and coordinate with others. Yet, on a philosophical level, time can feel mysterious—our awareness of it shapes our sense of urgency, memory, and change.</a:t>
            </a:r>
            <a:endParaRPr lang="en-US" dirty="0"/>
          </a:p>
        </p:txBody>
      </p:sp>
    </p:spTree>
    <p:extLst>
      <p:ext uri="{BB962C8B-B14F-4D97-AF65-F5344CB8AC3E}">
        <p14:creationId xmlns:p14="http://schemas.microsoft.com/office/powerpoint/2010/main" val="21211802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5286" y="1012825"/>
            <a:ext cx="10515600" cy="4351338"/>
          </a:xfrm>
        </p:spPr>
        <p:txBody>
          <a:bodyPr/>
          <a:lstStyle/>
          <a:p>
            <a:r>
              <a:rPr lang="en-SG" dirty="0" smtClean="0"/>
              <a:t>We measure time with clocks but they do not define it </a:t>
            </a:r>
          </a:p>
          <a:p>
            <a:r>
              <a:rPr lang="en-SG" dirty="0" smtClean="0"/>
              <a:t>Time is repetition</a:t>
            </a:r>
          </a:p>
          <a:p>
            <a:r>
              <a:rPr lang="en-SG" dirty="0" smtClean="0"/>
              <a:t>Early man used the sun dial to measure time based on the </a:t>
            </a:r>
            <a:r>
              <a:rPr lang="en-SG" dirty="0" err="1" smtClean="0"/>
              <a:t>repetion</a:t>
            </a:r>
            <a:r>
              <a:rPr lang="en-SG" dirty="0" smtClean="0"/>
              <a:t> of the earths movements</a:t>
            </a:r>
          </a:p>
          <a:p>
            <a:r>
              <a:rPr lang="en-SG" dirty="0" smtClean="0"/>
              <a:t>1656 </a:t>
            </a:r>
            <a:r>
              <a:rPr lang="en-SG" dirty="0" smtClean="0"/>
              <a:t>the 1</a:t>
            </a:r>
            <a:r>
              <a:rPr lang="en-SG" baseline="30000" dirty="0" smtClean="0"/>
              <a:t>st</a:t>
            </a:r>
            <a:r>
              <a:rPr lang="en-SG" dirty="0" smtClean="0"/>
              <a:t> pendulum clock .  Now atomic clocks that measure time  based on the repetition of the caesium atom</a:t>
            </a:r>
          </a:p>
          <a:p>
            <a:r>
              <a:rPr lang="en-SG" dirty="0"/>
              <a:t>Chronometry or horology ( lit. 'the study of time') is the science studying the measurement of time and timekeeping.</a:t>
            </a:r>
            <a:endParaRPr lang="en-SG" dirty="0" smtClean="0"/>
          </a:p>
          <a:p>
            <a:endParaRPr lang="en-SG" dirty="0" smtClean="0"/>
          </a:p>
          <a:p>
            <a:endParaRPr lang="en-US" dirty="0"/>
          </a:p>
        </p:txBody>
      </p:sp>
      <p:pic>
        <p:nvPicPr>
          <p:cNvPr id="4" name="Picture 3"/>
          <p:cNvPicPr>
            <a:picLocks noChangeAspect="1"/>
          </p:cNvPicPr>
          <p:nvPr/>
        </p:nvPicPr>
        <p:blipFill>
          <a:blip r:embed="rId2"/>
          <a:stretch>
            <a:fillRect/>
          </a:stretch>
        </p:blipFill>
        <p:spPr>
          <a:xfrm>
            <a:off x="8650514" y="3909171"/>
            <a:ext cx="2790372" cy="1833385"/>
          </a:xfrm>
          <a:prstGeom prst="rect">
            <a:avLst/>
          </a:prstGeom>
        </p:spPr>
      </p:pic>
    </p:spTree>
    <p:extLst>
      <p:ext uri="{BB962C8B-B14F-4D97-AF65-F5344CB8AC3E}">
        <p14:creationId xmlns:p14="http://schemas.microsoft.com/office/powerpoint/2010/main" val="33621686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SG" dirty="0"/>
              <a:t>The human brain is equipped to track time. The </a:t>
            </a:r>
            <a:r>
              <a:rPr lang="en-SG" dirty="0" err="1"/>
              <a:t>suprachiasmatic</a:t>
            </a:r>
            <a:r>
              <a:rPr lang="en-SG" dirty="0"/>
              <a:t> nuclei of the brain is the region responsible for daily or circadian rhythms. But </a:t>
            </a:r>
            <a:r>
              <a:rPr lang="en-SG" dirty="0" smtClean="0"/>
              <a:t>neurotransmitters and drugs affect time perceptions.</a:t>
            </a:r>
          </a:p>
          <a:p>
            <a:pPr algn="just" fontAlgn="base"/>
            <a:r>
              <a:rPr lang="en-SG" dirty="0"/>
              <a:t>Time seems to slow down during emergencies or danger. Scientists at Baylor College of Medicine in Houston say the brain doesn't actually speed up, but the amygdala becomes more active. The amygdala is the region of the brain that makes memories. As more memories form, time seems drawn out.</a:t>
            </a:r>
          </a:p>
          <a:p>
            <a:pPr algn="just" fontAlgn="base"/>
            <a:r>
              <a:rPr lang="en-SG" dirty="0"/>
              <a:t>The same phenomenon explains why older people seem to perceive time as moving faster than when they were younger. Psychologists believe the brain forms more memories of new experiences than that of familiar ones. Since fewer new memories are built later in life, time seems to pass more quickly.</a:t>
            </a:r>
          </a:p>
          <a:p>
            <a:endParaRPr lang="en-US" dirty="0"/>
          </a:p>
        </p:txBody>
      </p:sp>
    </p:spTree>
    <p:extLst>
      <p:ext uri="{BB962C8B-B14F-4D97-AF65-F5344CB8AC3E}">
        <p14:creationId xmlns:p14="http://schemas.microsoft.com/office/powerpoint/2010/main" val="20562804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6018"/>
          </a:xfrm>
        </p:spPr>
        <p:txBody>
          <a:bodyPr/>
          <a:lstStyle/>
          <a:p>
            <a:r>
              <a:rPr lang="en-SG" b="1" dirty="0" smtClean="0"/>
              <a:t>QUIZ</a:t>
            </a:r>
            <a:r>
              <a:rPr lang="en-SG" dirty="0" smtClean="0"/>
              <a:t> </a:t>
            </a:r>
            <a:endParaRPr lang="en-US" dirty="0"/>
          </a:p>
        </p:txBody>
      </p:sp>
      <p:sp>
        <p:nvSpPr>
          <p:cNvPr id="3" name="Content Placeholder 2"/>
          <p:cNvSpPr>
            <a:spLocks noGrp="1"/>
          </p:cNvSpPr>
          <p:nvPr>
            <p:ph idx="1"/>
          </p:nvPr>
        </p:nvSpPr>
        <p:spPr>
          <a:xfrm>
            <a:off x="928353" y="1895240"/>
            <a:ext cx="10515600" cy="4351338"/>
          </a:xfrm>
        </p:spPr>
        <p:txBody>
          <a:bodyPr>
            <a:noAutofit/>
          </a:bodyPr>
          <a:lstStyle/>
          <a:p>
            <a:r>
              <a:rPr lang="en-SG" sz="1800" b="1" dirty="0"/>
              <a:t>How often do you feel like you don’t have enough time to complete your tasks</a:t>
            </a:r>
            <a:r>
              <a:rPr lang="en-SG" sz="1800" b="1" dirty="0" smtClean="0"/>
              <a:t>?</a:t>
            </a:r>
          </a:p>
          <a:p>
            <a:pPr marL="514350" indent="-514350">
              <a:buAutoNum type="alphaUcPeriod"/>
            </a:pPr>
            <a:r>
              <a:rPr lang="en-SG" sz="1800" dirty="0" smtClean="0"/>
              <a:t>Rarely   B</a:t>
            </a:r>
            <a:r>
              <a:rPr lang="en-SG" sz="1800" dirty="0"/>
              <a:t>. </a:t>
            </a:r>
            <a:r>
              <a:rPr lang="en-SG" sz="1800" dirty="0" smtClean="0"/>
              <a:t>Sometimes    C</a:t>
            </a:r>
            <a:r>
              <a:rPr lang="en-SG" sz="1800" dirty="0"/>
              <a:t>. </a:t>
            </a:r>
            <a:r>
              <a:rPr lang="en-SG" sz="1800" dirty="0" smtClean="0"/>
              <a:t>Often    D</a:t>
            </a:r>
            <a:r>
              <a:rPr lang="en-SG" sz="1800" dirty="0"/>
              <a:t>. Almost </a:t>
            </a:r>
            <a:r>
              <a:rPr lang="en-SG" sz="1800" dirty="0" smtClean="0"/>
              <a:t>Always</a:t>
            </a:r>
          </a:p>
          <a:p>
            <a:r>
              <a:rPr lang="en-SG" sz="1800" b="1" dirty="0" smtClean="0"/>
              <a:t>Do </a:t>
            </a:r>
            <a:r>
              <a:rPr lang="en-SG" sz="1800" b="1" dirty="0"/>
              <a:t>you make to-do lists or use a planner regularly</a:t>
            </a:r>
            <a:r>
              <a:rPr lang="en-SG" sz="1800" b="1" dirty="0" smtClean="0"/>
              <a:t>?</a:t>
            </a:r>
          </a:p>
          <a:p>
            <a:pPr marL="0" indent="0">
              <a:buNone/>
            </a:pPr>
            <a:r>
              <a:rPr lang="en-SG" sz="1800" dirty="0" smtClean="0"/>
              <a:t>A</a:t>
            </a:r>
            <a:r>
              <a:rPr lang="en-SG" sz="1800" dirty="0"/>
              <a:t>. </a:t>
            </a:r>
            <a:r>
              <a:rPr lang="en-SG" sz="1800" dirty="0" smtClean="0"/>
              <a:t>Always  B</a:t>
            </a:r>
            <a:r>
              <a:rPr lang="en-SG" sz="1800" dirty="0"/>
              <a:t>. </a:t>
            </a:r>
            <a:r>
              <a:rPr lang="en-SG" sz="1800" dirty="0" smtClean="0"/>
              <a:t>Sometimes   C</a:t>
            </a:r>
            <a:r>
              <a:rPr lang="en-SG" sz="1800" dirty="0"/>
              <a:t>. </a:t>
            </a:r>
            <a:r>
              <a:rPr lang="en-SG" sz="1800" dirty="0" smtClean="0"/>
              <a:t>Rarely   D</a:t>
            </a:r>
            <a:r>
              <a:rPr lang="en-SG" sz="1800" dirty="0"/>
              <a:t>. </a:t>
            </a:r>
            <a:r>
              <a:rPr lang="en-SG" sz="1800" dirty="0" smtClean="0"/>
              <a:t>Never</a:t>
            </a:r>
          </a:p>
          <a:p>
            <a:r>
              <a:rPr lang="en-SG" sz="1800" b="1" dirty="0" smtClean="0"/>
              <a:t>How </a:t>
            </a:r>
            <a:r>
              <a:rPr lang="en-SG" sz="1800" b="1" dirty="0"/>
              <a:t>often do you find yourself getting distracted while working</a:t>
            </a:r>
            <a:r>
              <a:rPr lang="en-SG" sz="1800" b="1" dirty="0" smtClean="0"/>
              <a:t>?</a:t>
            </a:r>
          </a:p>
          <a:p>
            <a:pPr marL="0" indent="0">
              <a:buNone/>
            </a:pPr>
            <a:r>
              <a:rPr lang="en-SG" sz="1800" dirty="0" smtClean="0"/>
              <a:t>A</a:t>
            </a:r>
            <a:r>
              <a:rPr lang="en-SG" sz="1800" dirty="0"/>
              <a:t>. </a:t>
            </a:r>
            <a:r>
              <a:rPr lang="en-SG" sz="1800" dirty="0" smtClean="0"/>
              <a:t>Rarely    B</a:t>
            </a:r>
            <a:r>
              <a:rPr lang="en-SG" sz="1800" dirty="0"/>
              <a:t>. </a:t>
            </a:r>
            <a:r>
              <a:rPr lang="en-SG" sz="1800" dirty="0" smtClean="0"/>
              <a:t>Sometimes    C</a:t>
            </a:r>
            <a:r>
              <a:rPr lang="en-SG" sz="1800" dirty="0"/>
              <a:t>. </a:t>
            </a:r>
            <a:r>
              <a:rPr lang="en-SG" sz="1800" dirty="0" smtClean="0"/>
              <a:t>Often   D</a:t>
            </a:r>
            <a:r>
              <a:rPr lang="en-SG" sz="1800" dirty="0"/>
              <a:t>. Almost </a:t>
            </a:r>
            <a:r>
              <a:rPr lang="en-SG" sz="1800" dirty="0" smtClean="0"/>
              <a:t>Always</a:t>
            </a:r>
          </a:p>
          <a:p>
            <a:r>
              <a:rPr lang="en-SG" sz="1800" b="1" dirty="0" smtClean="0"/>
              <a:t>How </a:t>
            </a:r>
            <a:r>
              <a:rPr lang="en-SG" sz="1800" b="1" dirty="0"/>
              <a:t>frequently do you complete tasks right before the deadline</a:t>
            </a:r>
            <a:r>
              <a:rPr lang="en-SG" sz="1800" b="1" dirty="0" smtClean="0"/>
              <a:t>?</a:t>
            </a:r>
          </a:p>
          <a:p>
            <a:pPr marL="0" indent="0">
              <a:buNone/>
            </a:pPr>
            <a:r>
              <a:rPr lang="en-SG" sz="1800" dirty="0" smtClean="0"/>
              <a:t>A</a:t>
            </a:r>
            <a:r>
              <a:rPr lang="en-SG" sz="1800" dirty="0"/>
              <a:t>. </a:t>
            </a:r>
            <a:r>
              <a:rPr lang="en-SG" sz="1800" dirty="0" smtClean="0"/>
              <a:t>Rarely   B</a:t>
            </a:r>
            <a:r>
              <a:rPr lang="en-SG" sz="1800" dirty="0"/>
              <a:t>. </a:t>
            </a:r>
            <a:r>
              <a:rPr lang="en-SG" sz="1800" dirty="0" smtClean="0"/>
              <a:t>Sometimes   C</a:t>
            </a:r>
            <a:r>
              <a:rPr lang="en-SG" sz="1800" dirty="0"/>
              <a:t>. </a:t>
            </a:r>
            <a:r>
              <a:rPr lang="en-SG" sz="1800" dirty="0" smtClean="0"/>
              <a:t>Often    D</a:t>
            </a:r>
            <a:r>
              <a:rPr lang="en-SG" sz="1800" dirty="0"/>
              <a:t>. Almost </a:t>
            </a:r>
            <a:r>
              <a:rPr lang="en-SG" sz="1800" dirty="0" smtClean="0"/>
              <a:t>Always</a:t>
            </a:r>
          </a:p>
          <a:p>
            <a:r>
              <a:rPr lang="en-SG" sz="1800" b="1" dirty="0" smtClean="0"/>
              <a:t>When </a:t>
            </a:r>
            <a:r>
              <a:rPr lang="en-SG" sz="1800" b="1" dirty="0"/>
              <a:t>you have a task to complete, do you usually start immediately or delay it</a:t>
            </a:r>
            <a:r>
              <a:rPr lang="en-SG" sz="1800" b="1" dirty="0" smtClean="0"/>
              <a:t>?</a:t>
            </a:r>
          </a:p>
          <a:p>
            <a:pPr marL="0" indent="0">
              <a:buNone/>
            </a:pPr>
            <a:r>
              <a:rPr lang="en-SG" sz="1800" dirty="0" smtClean="0"/>
              <a:t>A</a:t>
            </a:r>
            <a:r>
              <a:rPr lang="en-SG" sz="1800" dirty="0"/>
              <a:t>. Start </a:t>
            </a:r>
            <a:r>
              <a:rPr lang="en-SG" sz="1800" dirty="0" smtClean="0"/>
              <a:t>Immediately     B</a:t>
            </a:r>
            <a:r>
              <a:rPr lang="en-SG" sz="1800" dirty="0"/>
              <a:t>. Start After Some </a:t>
            </a:r>
            <a:r>
              <a:rPr lang="en-SG" sz="1800" dirty="0" smtClean="0"/>
              <a:t>Delay    C</a:t>
            </a:r>
            <a:r>
              <a:rPr lang="en-SG" sz="1800" dirty="0"/>
              <a:t>. Delay Until </a:t>
            </a:r>
            <a:r>
              <a:rPr lang="en-SG" sz="1800" dirty="0" smtClean="0"/>
              <a:t>Necessary    D</a:t>
            </a:r>
            <a:r>
              <a:rPr lang="en-SG" sz="1800" dirty="0"/>
              <a:t>. Delay Until Last </a:t>
            </a:r>
            <a:r>
              <a:rPr lang="en-SG" sz="1800" dirty="0" smtClean="0"/>
              <a:t>Minute</a:t>
            </a:r>
          </a:p>
        </p:txBody>
      </p:sp>
    </p:spTree>
    <p:extLst>
      <p:ext uri="{BB962C8B-B14F-4D97-AF65-F5344CB8AC3E}">
        <p14:creationId xmlns:p14="http://schemas.microsoft.com/office/powerpoint/2010/main" val="22399132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Quiz </a:t>
            </a:r>
            <a:r>
              <a:rPr lang="en-SG" dirty="0"/>
              <a:t>Scoring:</a:t>
            </a:r>
            <a:br>
              <a:rPr lang="en-SG" dirty="0"/>
            </a:br>
            <a:endParaRPr lang="en-US" dirty="0"/>
          </a:p>
        </p:txBody>
      </p:sp>
      <p:sp>
        <p:nvSpPr>
          <p:cNvPr id="3" name="Content Placeholder 2"/>
          <p:cNvSpPr>
            <a:spLocks noGrp="1"/>
          </p:cNvSpPr>
          <p:nvPr>
            <p:ph idx="1"/>
          </p:nvPr>
        </p:nvSpPr>
        <p:spPr/>
        <p:txBody>
          <a:bodyPr/>
          <a:lstStyle/>
          <a:p>
            <a:r>
              <a:rPr lang="en-SG" dirty="0" smtClean="0"/>
              <a:t>Mostly </a:t>
            </a:r>
            <a:r>
              <a:rPr lang="en-SG" dirty="0"/>
              <a:t>A’s: You have good time management habits</a:t>
            </a:r>
            <a:r>
              <a:rPr lang="en-SG" dirty="0" smtClean="0"/>
              <a:t>.</a:t>
            </a:r>
          </a:p>
          <a:p>
            <a:r>
              <a:rPr lang="en-SG" dirty="0" smtClean="0"/>
              <a:t>Mostly </a:t>
            </a:r>
            <a:r>
              <a:rPr lang="en-SG" dirty="0"/>
              <a:t>B’s: You have fair time management but could benefit from structure</a:t>
            </a:r>
            <a:r>
              <a:rPr lang="en-SG" dirty="0" smtClean="0"/>
              <a:t>.</a:t>
            </a:r>
          </a:p>
          <a:p>
            <a:r>
              <a:rPr lang="en-SG" dirty="0" smtClean="0"/>
              <a:t>Mostly </a:t>
            </a:r>
            <a:r>
              <a:rPr lang="en-SG" dirty="0"/>
              <a:t>C’s and D’s: Time management is a challenge; structured approaches can help improve.</a:t>
            </a:r>
            <a:endParaRPr lang="en-US" dirty="0"/>
          </a:p>
          <a:p>
            <a:endParaRPr lang="en-US" dirty="0"/>
          </a:p>
        </p:txBody>
      </p:sp>
    </p:spTree>
    <p:extLst>
      <p:ext uri="{BB962C8B-B14F-4D97-AF65-F5344CB8AC3E}">
        <p14:creationId xmlns:p14="http://schemas.microsoft.com/office/powerpoint/2010/main" val="5525504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Group Discussion </a:t>
            </a:r>
            <a:endParaRPr lang="en-US" dirty="0"/>
          </a:p>
        </p:txBody>
      </p:sp>
      <p:sp>
        <p:nvSpPr>
          <p:cNvPr id="3" name="Content Placeholder 2"/>
          <p:cNvSpPr>
            <a:spLocks noGrp="1"/>
          </p:cNvSpPr>
          <p:nvPr>
            <p:ph idx="1"/>
          </p:nvPr>
        </p:nvSpPr>
        <p:spPr/>
        <p:txBody>
          <a:bodyPr>
            <a:normAutofit/>
          </a:bodyPr>
          <a:lstStyle/>
          <a:p>
            <a:r>
              <a:rPr lang="en-SG" dirty="0" smtClean="0"/>
              <a:t>What are </a:t>
            </a:r>
            <a:r>
              <a:rPr lang="en-SG" dirty="0"/>
              <a:t>the biggest obstacles you face when managing your time, especially in a teaching or learning environment</a:t>
            </a:r>
            <a:r>
              <a:rPr lang="en-SG" dirty="0" smtClean="0"/>
              <a:t>?</a:t>
            </a:r>
          </a:p>
          <a:p>
            <a:r>
              <a:rPr lang="en-SG" dirty="0" smtClean="0"/>
              <a:t>How </a:t>
            </a:r>
            <a:r>
              <a:rPr lang="en-SG" dirty="0"/>
              <a:t>do personal responsibilities or distractions (like phone use) affect your productivity</a:t>
            </a:r>
            <a:r>
              <a:rPr lang="en-SG" dirty="0" smtClean="0"/>
              <a:t>?</a:t>
            </a:r>
          </a:p>
          <a:p>
            <a:r>
              <a:rPr lang="en-SG" dirty="0" smtClean="0"/>
              <a:t>Discuss </a:t>
            </a:r>
            <a:r>
              <a:rPr lang="en-SG" dirty="0"/>
              <a:t>a time when you felt overwhelmed with tasks. What factors contributed to that feeling</a:t>
            </a:r>
            <a:r>
              <a:rPr lang="en-SG" dirty="0" smtClean="0"/>
              <a:t>?</a:t>
            </a:r>
          </a:p>
          <a:p>
            <a:r>
              <a:rPr lang="en-SG" dirty="0" smtClean="0"/>
              <a:t>How </a:t>
            </a:r>
            <a:r>
              <a:rPr lang="en-SG" dirty="0"/>
              <a:t>does procrastination impact your daily life? What are some common reasons for procrastinating</a:t>
            </a:r>
            <a:r>
              <a:rPr lang="en-SG" dirty="0" smtClean="0"/>
              <a:t>?</a:t>
            </a:r>
          </a:p>
          <a:p>
            <a:r>
              <a:rPr lang="en-SG" dirty="0" smtClean="0"/>
              <a:t>What </a:t>
            </a:r>
            <a:r>
              <a:rPr lang="en-SG" dirty="0"/>
              <a:t>techniques, if any, have you tried to improve your time management? Were they effective?</a:t>
            </a:r>
            <a:endParaRPr lang="en-US" dirty="0"/>
          </a:p>
        </p:txBody>
      </p:sp>
    </p:spTree>
    <p:extLst>
      <p:ext uri="{BB962C8B-B14F-4D97-AF65-F5344CB8AC3E}">
        <p14:creationId xmlns:p14="http://schemas.microsoft.com/office/powerpoint/2010/main" val="19705775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time management </a:t>
            </a:r>
            <a:endParaRPr lang="en-US" dirty="0"/>
          </a:p>
        </p:txBody>
      </p:sp>
      <p:sp>
        <p:nvSpPr>
          <p:cNvPr id="3" name="Content Placeholder 2"/>
          <p:cNvSpPr>
            <a:spLocks noGrp="1"/>
          </p:cNvSpPr>
          <p:nvPr>
            <p:ph idx="1"/>
          </p:nvPr>
        </p:nvSpPr>
        <p:spPr/>
        <p:txBody>
          <a:bodyPr>
            <a:normAutofit/>
          </a:bodyPr>
          <a:lstStyle/>
          <a:p>
            <a:pPr marL="0" indent="0">
              <a:buNone/>
            </a:pPr>
            <a:r>
              <a:rPr lang="en-SG" sz="3200" dirty="0"/>
              <a:t>Time management is the ability to use your time effectively by organizing and planning how to divide your time between specific activities</a:t>
            </a:r>
            <a:endParaRPr lang="en-US" sz="3200" dirty="0"/>
          </a:p>
        </p:txBody>
      </p:sp>
    </p:spTree>
    <p:extLst>
      <p:ext uri="{BB962C8B-B14F-4D97-AF65-F5344CB8AC3E}">
        <p14:creationId xmlns:p14="http://schemas.microsoft.com/office/powerpoint/2010/main" val="8671073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Time Management Challenges </a:t>
            </a:r>
            <a:endParaRPr lang="en-US" dirty="0"/>
          </a:p>
        </p:txBody>
      </p:sp>
      <p:sp>
        <p:nvSpPr>
          <p:cNvPr id="3" name="Content Placeholder 2"/>
          <p:cNvSpPr>
            <a:spLocks noGrp="1"/>
          </p:cNvSpPr>
          <p:nvPr>
            <p:ph idx="1"/>
          </p:nvPr>
        </p:nvSpPr>
        <p:spPr>
          <a:xfrm>
            <a:off x="838200" y="1956254"/>
            <a:ext cx="10515600" cy="4351338"/>
          </a:xfrm>
        </p:spPr>
        <p:txBody>
          <a:bodyPr/>
          <a:lstStyle/>
          <a:p>
            <a:pPr marL="514350" indent="-514350">
              <a:buFont typeface="+mj-lt"/>
              <a:buAutoNum type="arabicPeriod"/>
            </a:pPr>
            <a:r>
              <a:rPr lang="en-SG" dirty="0"/>
              <a:t>Procrastination and lack of prioritization</a:t>
            </a:r>
            <a:r>
              <a:rPr lang="en-SG" dirty="0" smtClean="0"/>
              <a:t>.</a:t>
            </a:r>
          </a:p>
          <a:p>
            <a:pPr marL="514350" indent="-514350">
              <a:buFont typeface="+mj-lt"/>
              <a:buAutoNum type="arabicPeriod"/>
            </a:pPr>
            <a:r>
              <a:rPr lang="en-SG" dirty="0" smtClean="0"/>
              <a:t>Interruptions </a:t>
            </a:r>
            <a:r>
              <a:rPr lang="en-SG" dirty="0"/>
              <a:t>and distractions, such as social media or personal responsibilities</a:t>
            </a:r>
            <a:r>
              <a:rPr lang="en-SG" dirty="0" smtClean="0"/>
              <a:t>.</a:t>
            </a:r>
          </a:p>
          <a:p>
            <a:pPr marL="514350" indent="-514350">
              <a:buFont typeface="+mj-lt"/>
              <a:buAutoNum type="arabicPeriod"/>
            </a:pPr>
            <a:r>
              <a:rPr lang="en-SG" dirty="0" smtClean="0"/>
              <a:t>Overcommitting </a:t>
            </a:r>
            <a:r>
              <a:rPr lang="en-SG" dirty="0"/>
              <a:t>and struggling to say “no” to extra tasks</a:t>
            </a:r>
            <a:r>
              <a:rPr lang="en-SG" dirty="0" smtClean="0"/>
              <a:t>.</a:t>
            </a:r>
          </a:p>
          <a:p>
            <a:pPr marL="514350" indent="-514350">
              <a:buFont typeface="+mj-lt"/>
              <a:buAutoNum type="arabicPeriod"/>
            </a:pPr>
            <a:r>
              <a:rPr lang="en-SG" dirty="0" smtClean="0"/>
              <a:t>Not </a:t>
            </a:r>
            <a:r>
              <a:rPr lang="en-SG" dirty="0"/>
              <a:t>setting clear goals or action plans, leading to </a:t>
            </a:r>
            <a:r>
              <a:rPr lang="en-SG" dirty="0" smtClean="0"/>
              <a:t>disorganization. Ineffective </a:t>
            </a:r>
            <a:r>
              <a:rPr lang="en-SG" dirty="0"/>
              <a:t>planning tools or reliance on memory instead of written schedules.</a:t>
            </a:r>
            <a:endParaRPr lang="en-US" dirty="0"/>
          </a:p>
        </p:txBody>
      </p:sp>
    </p:spTree>
    <p:extLst>
      <p:ext uri="{BB962C8B-B14F-4D97-AF65-F5344CB8AC3E}">
        <p14:creationId xmlns:p14="http://schemas.microsoft.com/office/powerpoint/2010/main" val="20710645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SG" sz="4400" dirty="0" smtClean="0"/>
              <a:t>Importance of time management </a:t>
            </a:r>
            <a:br>
              <a:rPr lang="en-SG" sz="4400" dirty="0" smtClean="0"/>
            </a:br>
            <a:r>
              <a:rPr lang="en-SG" sz="4400" dirty="0" smtClean="0"/>
              <a:t>(for teachers )</a:t>
            </a:r>
            <a:endParaRPr lang="en-US" sz="4400" dirty="0"/>
          </a:p>
        </p:txBody>
      </p:sp>
      <p:sp>
        <p:nvSpPr>
          <p:cNvPr id="3" name="Content Placeholder 2"/>
          <p:cNvSpPr>
            <a:spLocks noGrp="1"/>
          </p:cNvSpPr>
          <p:nvPr>
            <p:ph idx="1"/>
          </p:nvPr>
        </p:nvSpPr>
        <p:spPr/>
        <p:txBody>
          <a:bodyPr/>
          <a:lstStyle/>
          <a:p>
            <a:pPr marL="0" indent="0">
              <a:buNone/>
            </a:pPr>
            <a:r>
              <a:rPr lang="en-SG" dirty="0" smtClean="0"/>
              <a:t>. </a:t>
            </a:r>
            <a:endParaRPr lang="en-US" dirty="0"/>
          </a:p>
        </p:txBody>
      </p:sp>
      <p:sp>
        <p:nvSpPr>
          <p:cNvPr id="4" name="Rectangle 3"/>
          <p:cNvSpPr/>
          <p:nvPr/>
        </p:nvSpPr>
        <p:spPr>
          <a:xfrm>
            <a:off x="838200" y="1825625"/>
            <a:ext cx="10515600" cy="4185761"/>
          </a:xfrm>
          <a:prstGeom prst="rect">
            <a:avLst/>
          </a:prstGeom>
        </p:spPr>
        <p:txBody>
          <a:bodyPr wrap="square">
            <a:spAutoFit/>
          </a:bodyPr>
          <a:lstStyle/>
          <a:p>
            <a:r>
              <a:rPr lang="en-SG" sz="1400" b="1" dirty="0"/>
              <a:t>More time for teaching.</a:t>
            </a:r>
          </a:p>
          <a:p>
            <a:r>
              <a:rPr lang="en-SG" sz="1400" dirty="0"/>
              <a:t>By carefully planning your time, you will waste less of it on things like looking for lost materials or dealing with disruptions. Instead, you will ensure that you have more time for the thing that matters most – teaching.</a:t>
            </a:r>
          </a:p>
          <a:p>
            <a:endParaRPr lang="en-SG" sz="1400" dirty="0"/>
          </a:p>
          <a:p>
            <a:r>
              <a:rPr lang="en-SG" sz="1400" b="1" dirty="0"/>
              <a:t>Optimal work-life balance.</a:t>
            </a:r>
          </a:p>
          <a:p>
            <a:r>
              <a:rPr lang="en-SG" sz="1400" dirty="0"/>
              <a:t>Good time management skills help to strike a better balance between your work and personal life. Proper planning and control will reduce your stress levels to a large degree. As a consequence, you’ll notice a significant improvement in your overall well-being.</a:t>
            </a:r>
          </a:p>
          <a:p>
            <a:endParaRPr lang="en-SG" sz="1400" dirty="0"/>
          </a:p>
          <a:p>
            <a:r>
              <a:rPr lang="en-SG" sz="1400" b="1" dirty="0"/>
              <a:t>Better student outcomes.</a:t>
            </a:r>
          </a:p>
          <a:p>
            <a:r>
              <a:rPr lang="en-SG" sz="1400" dirty="0"/>
              <a:t>When teachers manage their time effectively, it can lead to improved student outcomes as well. This is because you get more time available for things like lesson planning and preparation, which can result in more engaging and effective lessons.</a:t>
            </a:r>
          </a:p>
          <a:p>
            <a:endParaRPr lang="en-SG" sz="1400" dirty="0"/>
          </a:p>
          <a:p>
            <a:r>
              <a:rPr lang="en-SG" sz="1400" b="1" dirty="0"/>
              <a:t>Greater job satisfaction.</a:t>
            </a:r>
          </a:p>
          <a:p>
            <a:r>
              <a:rPr lang="en-SG" sz="1400" dirty="0"/>
              <a:t>Time management empowers you to accomplish more and make a real difference in your students’ lives. And when you feel like you’re in control of your time and everything is more organized, you begin to enjoy the process more, and your job satisfaction naturally increases.</a:t>
            </a:r>
          </a:p>
          <a:p>
            <a:endParaRPr lang="en-SG" sz="1400" dirty="0"/>
          </a:p>
          <a:p>
            <a:r>
              <a:rPr lang="en-SG" sz="1400" b="1" dirty="0"/>
              <a:t>Higher productivity.</a:t>
            </a:r>
          </a:p>
          <a:p>
            <a:r>
              <a:rPr lang="en-SG" sz="1400" dirty="0"/>
              <a:t>Thanks to time management, your concentration and well-being can get much better than in the lack of good organization. And when you’re energized, able to focus on one task and give it your full attention, you’ll be amazed at how much more quickly and easily the work gets done</a:t>
            </a:r>
            <a:endParaRPr lang="en-US" sz="1400" dirty="0"/>
          </a:p>
        </p:txBody>
      </p:sp>
    </p:spTree>
    <p:extLst>
      <p:ext uri="{BB962C8B-B14F-4D97-AF65-F5344CB8AC3E}">
        <p14:creationId xmlns:p14="http://schemas.microsoft.com/office/powerpoint/2010/main" val="10173643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SG" u="sng" dirty="0" smtClean="0"/>
              <a:t>Prioritization </a:t>
            </a:r>
            <a:endParaRPr lang="en-US" u="sng" dirty="0"/>
          </a:p>
        </p:txBody>
      </p:sp>
      <p:sp>
        <p:nvSpPr>
          <p:cNvPr id="3" name="Content Placeholder 2"/>
          <p:cNvSpPr>
            <a:spLocks noGrp="1"/>
          </p:cNvSpPr>
          <p:nvPr>
            <p:ph idx="1"/>
          </p:nvPr>
        </p:nvSpPr>
        <p:spPr/>
        <p:txBody>
          <a:bodyPr/>
          <a:lstStyle/>
          <a:p>
            <a:r>
              <a:rPr lang="en-SG" dirty="0" smtClean="0"/>
              <a:t>Have you ever felt overwhelmed by tasks piling up? What caused it?</a:t>
            </a:r>
          </a:p>
          <a:p>
            <a:r>
              <a:rPr lang="en-SG" dirty="0" smtClean="0"/>
              <a:t>What’s an example of a time you prioritized the wrong task? How did it affect your day?</a:t>
            </a:r>
          </a:p>
          <a:p>
            <a:r>
              <a:rPr lang="en-SG" dirty="0" smtClean="0"/>
              <a:t>What strategies have helped you stay ahead of your workload?</a:t>
            </a:r>
            <a:endParaRPr lang="en-US" dirty="0"/>
          </a:p>
        </p:txBody>
      </p:sp>
    </p:spTree>
    <p:extLst>
      <p:ext uri="{BB962C8B-B14F-4D97-AF65-F5344CB8AC3E}">
        <p14:creationId xmlns:p14="http://schemas.microsoft.com/office/powerpoint/2010/main" val="526831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Cost of Poor Prioritization </a:t>
            </a:r>
            <a:endParaRPr lang="en-US" dirty="0"/>
          </a:p>
        </p:txBody>
      </p:sp>
      <p:sp>
        <p:nvSpPr>
          <p:cNvPr id="3" name="Content Placeholder 2"/>
          <p:cNvSpPr>
            <a:spLocks noGrp="1"/>
          </p:cNvSpPr>
          <p:nvPr>
            <p:ph idx="1"/>
          </p:nvPr>
        </p:nvSpPr>
        <p:spPr/>
        <p:txBody>
          <a:bodyPr>
            <a:normAutofit/>
          </a:bodyPr>
          <a:lstStyle/>
          <a:p>
            <a:r>
              <a:rPr lang="en-SG" b="1" dirty="0" smtClean="0"/>
              <a:t>Increased Stress and Burnout: </a:t>
            </a:r>
            <a:r>
              <a:rPr lang="en-SG" dirty="0" smtClean="0"/>
              <a:t>Constantly chasing deadlines leads to anxiety and exhaustion.</a:t>
            </a:r>
          </a:p>
          <a:p>
            <a:r>
              <a:rPr lang="en-SG" b="1" dirty="0" smtClean="0"/>
              <a:t>Missed Deadlines: </a:t>
            </a:r>
            <a:r>
              <a:rPr lang="en-SG" dirty="0" smtClean="0"/>
              <a:t>Key tasks (e.g., submitting grades) may be delayed</a:t>
            </a:r>
          </a:p>
          <a:p>
            <a:r>
              <a:rPr lang="en-SG" b="1" dirty="0" smtClean="0"/>
              <a:t>Reduced Productivity: </a:t>
            </a:r>
            <a:r>
              <a:rPr lang="en-SG" dirty="0" smtClean="0"/>
              <a:t>Time is wasted on low-priority activities, leaving critical work unfinished.</a:t>
            </a:r>
          </a:p>
          <a:p>
            <a:r>
              <a:rPr lang="en-SG" b="1" dirty="0" smtClean="0"/>
              <a:t>Negative Impact on Students: </a:t>
            </a:r>
            <a:r>
              <a:rPr lang="en-SG" dirty="0" smtClean="0"/>
              <a:t>Poorly prepared lessons or late feedback disrupts student learning and progress.</a:t>
            </a:r>
          </a:p>
          <a:p>
            <a:r>
              <a:rPr lang="en-SG" b="1" dirty="0" smtClean="0"/>
              <a:t>Strained Relationships: </a:t>
            </a:r>
            <a:r>
              <a:rPr lang="en-SG" dirty="0" smtClean="0"/>
              <a:t>Missed commitments or delays in team projects create tension with colleagues.</a:t>
            </a:r>
          </a:p>
          <a:p>
            <a:r>
              <a:rPr lang="en-SG" b="1" dirty="0" smtClean="0"/>
              <a:t>Loss of Opportunities: </a:t>
            </a:r>
            <a:r>
              <a:rPr lang="en-SG" dirty="0" smtClean="0"/>
              <a:t>Inability to focus on long-term goals, like professional development or certifications.</a:t>
            </a:r>
          </a:p>
          <a:p>
            <a:endParaRPr lang="en-US" dirty="0"/>
          </a:p>
        </p:txBody>
      </p:sp>
    </p:spTree>
    <p:extLst>
      <p:ext uri="{BB962C8B-B14F-4D97-AF65-F5344CB8AC3E}">
        <p14:creationId xmlns:p14="http://schemas.microsoft.com/office/powerpoint/2010/main" val="3541863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039921"/>
          </a:xfrm>
        </p:spPr>
        <p:txBody>
          <a:bodyPr/>
          <a:lstStyle/>
          <a:p>
            <a:r>
              <a:rPr lang="en-US" dirty="0" smtClean="0"/>
              <a:t> Eisenhower Matrix</a:t>
            </a:r>
            <a:endParaRPr lang="en-US" dirty="0"/>
          </a:p>
        </p:txBody>
      </p:sp>
      <p:pic>
        <p:nvPicPr>
          <p:cNvPr id="2050" name="Picture 2" descr="The Eisenhower matrix – A popular prioritization framework | Spica"/>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t="16055" b="9224"/>
          <a:stretch/>
        </p:blipFill>
        <p:spPr bwMode="auto">
          <a:xfrm>
            <a:off x="4997003" y="1751525"/>
            <a:ext cx="7077779" cy="44040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62378" y="2218621"/>
            <a:ext cx="4434625" cy="3785652"/>
          </a:xfrm>
          <a:prstGeom prst="rect">
            <a:avLst/>
          </a:prstGeom>
        </p:spPr>
        <p:txBody>
          <a:bodyPr wrap="square">
            <a:spAutoFit/>
          </a:bodyPr>
          <a:lstStyle/>
          <a:p>
            <a:r>
              <a:rPr lang="en-SG" sz="2400" dirty="0"/>
              <a:t>Named after Dwight D. Eisenhower, a former U.S. </a:t>
            </a:r>
            <a:r>
              <a:rPr lang="en-SG" sz="2400" dirty="0" smtClean="0"/>
              <a:t>president. Focuses </a:t>
            </a:r>
            <a:r>
              <a:rPr lang="en-SG" sz="2400" dirty="0"/>
              <a:t>on urgency and importance as the primary criteria for decision-making</a:t>
            </a:r>
            <a:r>
              <a:rPr lang="en-SG" sz="2400" dirty="0" smtClean="0"/>
              <a:t>.</a:t>
            </a:r>
          </a:p>
          <a:p>
            <a:endParaRPr lang="en-SG" sz="2400" dirty="0"/>
          </a:p>
          <a:p>
            <a:r>
              <a:rPr lang="en-SG" sz="2400" dirty="0"/>
              <a:t>Goal: Distinguish between tasks that require immediate attention versus those that can be delegated or eliminated.</a:t>
            </a:r>
          </a:p>
        </p:txBody>
      </p:sp>
    </p:spTree>
    <p:extLst>
      <p:ext uri="{BB962C8B-B14F-4D97-AF65-F5344CB8AC3E}">
        <p14:creationId xmlns:p14="http://schemas.microsoft.com/office/powerpoint/2010/main" val="4148844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030310" y="717818"/>
            <a:ext cx="10515600" cy="4048125"/>
          </a:xfrm>
        </p:spPr>
        <p:txBody>
          <a:bodyPr>
            <a:noAutofit/>
          </a:bodyPr>
          <a:lstStyle/>
          <a:p>
            <a:pPr>
              <a:lnSpc>
                <a:spcPct val="150000"/>
              </a:lnSpc>
              <a:spcBef>
                <a:spcPts val="0"/>
              </a:spcBef>
            </a:pPr>
            <a:r>
              <a:rPr lang="en-SG" b="1" dirty="0" smtClean="0"/>
              <a:t>Urgent &amp; Important: </a:t>
            </a:r>
          </a:p>
          <a:p>
            <a:pPr>
              <a:lnSpc>
                <a:spcPct val="150000"/>
              </a:lnSpc>
              <a:spcBef>
                <a:spcPts val="0"/>
              </a:spcBef>
            </a:pPr>
            <a:r>
              <a:rPr lang="en-SG" dirty="0" smtClean="0"/>
              <a:t>Tasks that require immediate attention.</a:t>
            </a:r>
          </a:p>
          <a:p>
            <a:pPr>
              <a:lnSpc>
                <a:spcPct val="150000"/>
              </a:lnSpc>
              <a:spcBef>
                <a:spcPts val="0"/>
              </a:spcBef>
            </a:pPr>
            <a:r>
              <a:rPr lang="en-SG" b="1" dirty="0" smtClean="0"/>
              <a:t>Not </a:t>
            </a:r>
            <a:r>
              <a:rPr lang="en-SG" b="1" dirty="0" smtClean="0"/>
              <a:t>Urgent &amp; Important: </a:t>
            </a:r>
          </a:p>
          <a:p>
            <a:pPr>
              <a:lnSpc>
                <a:spcPct val="150000"/>
              </a:lnSpc>
              <a:spcBef>
                <a:spcPts val="0"/>
              </a:spcBef>
            </a:pPr>
            <a:r>
              <a:rPr lang="en-SG" dirty="0" smtClean="0"/>
              <a:t>Tasks that contribute to long-term goals or effectiveness but can be scheduled.</a:t>
            </a:r>
          </a:p>
          <a:p>
            <a:pPr>
              <a:lnSpc>
                <a:spcPct val="150000"/>
              </a:lnSpc>
              <a:spcBef>
                <a:spcPts val="0"/>
              </a:spcBef>
            </a:pPr>
            <a:r>
              <a:rPr lang="en-SG" b="1" dirty="0" smtClean="0"/>
              <a:t>Urgent </a:t>
            </a:r>
            <a:r>
              <a:rPr lang="en-SG" b="1" dirty="0" smtClean="0"/>
              <a:t>&amp; Not Important: </a:t>
            </a:r>
          </a:p>
          <a:p>
            <a:pPr>
              <a:lnSpc>
                <a:spcPct val="150000"/>
              </a:lnSpc>
              <a:spcBef>
                <a:spcPts val="0"/>
              </a:spcBef>
            </a:pPr>
            <a:r>
              <a:rPr lang="en-SG" dirty="0" smtClean="0"/>
              <a:t>Tasks that should be delegated if possible.</a:t>
            </a:r>
          </a:p>
          <a:p>
            <a:pPr>
              <a:lnSpc>
                <a:spcPct val="150000"/>
              </a:lnSpc>
              <a:spcBef>
                <a:spcPts val="0"/>
              </a:spcBef>
            </a:pPr>
            <a:r>
              <a:rPr lang="en-SG" b="1" dirty="0" smtClean="0"/>
              <a:t>Not </a:t>
            </a:r>
            <a:r>
              <a:rPr lang="en-SG" b="1" dirty="0" smtClean="0"/>
              <a:t>Urgent &amp; Not Important: </a:t>
            </a:r>
          </a:p>
          <a:p>
            <a:pPr>
              <a:lnSpc>
                <a:spcPct val="150000"/>
              </a:lnSpc>
              <a:spcBef>
                <a:spcPts val="0"/>
              </a:spcBef>
            </a:pPr>
            <a:r>
              <a:rPr lang="en-SG" dirty="0" smtClean="0"/>
              <a:t>Tasks that are time-wasters and should be avoided</a:t>
            </a:r>
          </a:p>
        </p:txBody>
      </p:sp>
    </p:spTree>
    <p:extLst>
      <p:ext uri="{BB962C8B-B14F-4D97-AF65-F5344CB8AC3E}">
        <p14:creationId xmlns:p14="http://schemas.microsoft.com/office/powerpoint/2010/main" val="379636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Sort into the fours quadrants </a:t>
            </a:r>
            <a:endParaRPr lang="en-US" dirty="0"/>
          </a:p>
        </p:txBody>
      </p:sp>
      <p:sp>
        <p:nvSpPr>
          <p:cNvPr id="3" name="Content Placeholder 2"/>
          <p:cNvSpPr>
            <a:spLocks noGrp="1"/>
          </p:cNvSpPr>
          <p:nvPr>
            <p:ph idx="1"/>
          </p:nvPr>
        </p:nvSpPr>
        <p:spPr>
          <a:xfrm>
            <a:off x="1097280" y="1845734"/>
            <a:ext cx="4517909" cy="4023360"/>
          </a:xfrm>
        </p:spPr>
        <p:txBody>
          <a:bodyPr>
            <a:normAutofit fontScale="92500" lnSpcReduction="20000"/>
          </a:bodyPr>
          <a:lstStyle/>
          <a:p>
            <a:r>
              <a:rPr lang="en-SG" dirty="0" smtClean="0"/>
              <a:t>Grade students’ assignments due tomorrow</a:t>
            </a:r>
            <a:r>
              <a:rPr lang="en-SG" dirty="0" smtClean="0"/>
              <a:t>.</a:t>
            </a:r>
          </a:p>
          <a:p>
            <a:r>
              <a:rPr lang="en-SG" dirty="0" smtClean="0"/>
              <a:t>Reply to your superiors email </a:t>
            </a:r>
            <a:endParaRPr lang="en-SG" dirty="0" smtClean="0"/>
          </a:p>
          <a:p>
            <a:r>
              <a:rPr lang="en-SG" dirty="0" smtClean="0"/>
              <a:t>Prepare lesson plans for next week</a:t>
            </a:r>
            <a:r>
              <a:rPr lang="en-SG" dirty="0" smtClean="0"/>
              <a:t>.</a:t>
            </a:r>
          </a:p>
          <a:p>
            <a:r>
              <a:rPr lang="en-SG" dirty="0" smtClean="0"/>
              <a:t>Clean up the files on your computer</a:t>
            </a:r>
          </a:p>
          <a:p>
            <a:r>
              <a:rPr lang="en-SG" dirty="0" smtClean="0"/>
              <a:t>Help a colleague with a request</a:t>
            </a:r>
          </a:p>
          <a:p>
            <a:r>
              <a:rPr lang="en-SG" dirty="0" smtClean="0"/>
              <a:t>Read a novel from your favourite author</a:t>
            </a:r>
          </a:p>
          <a:p>
            <a:r>
              <a:rPr lang="en-SG" dirty="0" smtClean="0"/>
              <a:t>Read a essay for your portfolio </a:t>
            </a:r>
          </a:p>
          <a:p>
            <a:r>
              <a:rPr lang="en-SG" dirty="0"/>
              <a:t>Arrange desks in the classroom before the next session.</a:t>
            </a:r>
          </a:p>
          <a:p>
            <a:r>
              <a:rPr lang="en-SG" dirty="0" smtClean="0"/>
              <a:t>Respond </a:t>
            </a:r>
            <a:r>
              <a:rPr lang="en-SG" dirty="0"/>
              <a:t>to a text message from a friend about weekend plans.</a:t>
            </a:r>
          </a:p>
          <a:p>
            <a:endParaRPr lang="en-SG" dirty="0" smtClean="0"/>
          </a:p>
          <a:p>
            <a:endParaRPr lang="en-SG" dirty="0" smtClean="0"/>
          </a:p>
          <a:p>
            <a:endParaRPr lang="en-SG" dirty="0" smtClean="0"/>
          </a:p>
          <a:p>
            <a:endParaRPr lang="en-US" dirty="0"/>
          </a:p>
        </p:txBody>
      </p:sp>
      <p:sp>
        <p:nvSpPr>
          <p:cNvPr id="4" name="Rectangle 3"/>
          <p:cNvSpPr/>
          <p:nvPr/>
        </p:nvSpPr>
        <p:spPr>
          <a:xfrm>
            <a:off x="6126480" y="1845734"/>
            <a:ext cx="5348596" cy="4401205"/>
          </a:xfrm>
          <a:prstGeom prst="rect">
            <a:avLst/>
          </a:prstGeom>
        </p:spPr>
        <p:txBody>
          <a:bodyPr wrap="square">
            <a:spAutoFit/>
          </a:bodyPr>
          <a:lstStyle/>
          <a:p>
            <a:r>
              <a:rPr lang="en-SG" sz="2000" dirty="0" smtClean="0">
                <a:solidFill>
                  <a:schemeClr val="tx1">
                    <a:lumMod val="75000"/>
                    <a:lumOff val="25000"/>
                  </a:schemeClr>
                </a:solidFill>
              </a:rPr>
              <a:t>Check </a:t>
            </a:r>
            <a:r>
              <a:rPr lang="en-SG" sz="2000" dirty="0">
                <a:solidFill>
                  <a:schemeClr val="tx1">
                    <a:lumMod val="75000"/>
                    <a:lumOff val="25000"/>
                  </a:schemeClr>
                </a:solidFill>
              </a:rPr>
              <a:t>social media for ideas on classroom decorations</a:t>
            </a:r>
            <a:r>
              <a:rPr lang="en-SG" sz="2000" dirty="0" smtClean="0">
                <a:solidFill>
                  <a:schemeClr val="tx1">
                    <a:lumMod val="75000"/>
                    <a:lumOff val="25000"/>
                  </a:schemeClr>
                </a:solidFill>
              </a:rPr>
              <a:t>.</a:t>
            </a:r>
          </a:p>
          <a:p>
            <a:endParaRPr lang="en-SG" sz="2000" dirty="0" smtClean="0">
              <a:solidFill>
                <a:schemeClr val="tx1">
                  <a:lumMod val="75000"/>
                  <a:lumOff val="25000"/>
                </a:schemeClr>
              </a:solidFill>
            </a:endParaRPr>
          </a:p>
          <a:p>
            <a:r>
              <a:rPr lang="en-SG" sz="2000" dirty="0" smtClean="0">
                <a:solidFill>
                  <a:schemeClr val="tx1">
                    <a:lumMod val="75000"/>
                    <a:lumOff val="25000"/>
                  </a:schemeClr>
                </a:solidFill>
              </a:rPr>
              <a:t>Watch the latest movie on Netflix. </a:t>
            </a:r>
            <a:endParaRPr lang="en-SG" sz="2000" dirty="0">
              <a:solidFill>
                <a:schemeClr val="tx1">
                  <a:lumMod val="75000"/>
                  <a:lumOff val="25000"/>
                </a:schemeClr>
              </a:solidFill>
            </a:endParaRPr>
          </a:p>
          <a:p>
            <a:endParaRPr lang="en-SG" sz="2000" dirty="0" smtClean="0">
              <a:solidFill>
                <a:schemeClr val="tx1">
                  <a:lumMod val="75000"/>
                  <a:lumOff val="25000"/>
                </a:schemeClr>
              </a:solidFill>
            </a:endParaRPr>
          </a:p>
          <a:p>
            <a:r>
              <a:rPr lang="en-SG" sz="2000" dirty="0" smtClean="0">
                <a:solidFill>
                  <a:schemeClr val="tx1">
                    <a:lumMod val="75000"/>
                    <a:lumOff val="25000"/>
                  </a:schemeClr>
                </a:solidFill>
              </a:rPr>
              <a:t>Print </a:t>
            </a:r>
            <a:r>
              <a:rPr lang="en-SG" sz="2000" dirty="0">
                <a:solidFill>
                  <a:schemeClr val="tx1">
                    <a:lumMod val="75000"/>
                    <a:lumOff val="25000"/>
                  </a:schemeClr>
                </a:solidFill>
              </a:rPr>
              <a:t>hand-outs for tomorrow’s lesson</a:t>
            </a:r>
            <a:r>
              <a:rPr lang="en-SG" sz="2000" dirty="0">
                <a:solidFill>
                  <a:schemeClr val="tx1">
                    <a:lumMod val="75000"/>
                    <a:lumOff val="25000"/>
                  </a:schemeClr>
                </a:solidFill>
              </a:rPr>
              <a:t>.</a:t>
            </a:r>
          </a:p>
          <a:p>
            <a:endParaRPr lang="en-SG" sz="2000" dirty="0">
              <a:solidFill>
                <a:schemeClr val="tx1">
                  <a:lumMod val="75000"/>
                  <a:lumOff val="25000"/>
                </a:schemeClr>
              </a:solidFill>
            </a:endParaRPr>
          </a:p>
          <a:p>
            <a:r>
              <a:rPr lang="en-SG" sz="2000" dirty="0">
                <a:solidFill>
                  <a:schemeClr val="tx1">
                    <a:lumMod val="75000"/>
                    <a:lumOff val="25000"/>
                  </a:schemeClr>
                </a:solidFill>
              </a:rPr>
              <a:t>Review the syllabus to prepare for an annual curriculum review meeting scheduled for next month</a:t>
            </a:r>
            <a:r>
              <a:rPr lang="en-SG" sz="2000" dirty="0">
                <a:solidFill>
                  <a:schemeClr val="tx1">
                    <a:lumMod val="75000"/>
                    <a:lumOff val="25000"/>
                  </a:schemeClr>
                </a:solidFill>
              </a:rPr>
              <a:t>.</a:t>
            </a:r>
          </a:p>
          <a:p>
            <a:endParaRPr lang="en-SG" sz="2000" dirty="0">
              <a:solidFill>
                <a:schemeClr val="tx1">
                  <a:lumMod val="75000"/>
                  <a:lumOff val="25000"/>
                </a:schemeClr>
              </a:solidFill>
            </a:endParaRPr>
          </a:p>
          <a:p>
            <a:r>
              <a:rPr lang="en-SG" sz="2000" dirty="0">
                <a:solidFill>
                  <a:schemeClr val="tx1">
                    <a:lumMod val="75000"/>
                    <a:lumOff val="25000"/>
                  </a:schemeClr>
                </a:solidFill>
              </a:rPr>
              <a:t>Plan a birthday surprise for a colleague during lunch</a:t>
            </a:r>
            <a:r>
              <a:rPr lang="en-SG" sz="2000" dirty="0">
                <a:solidFill>
                  <a:schemeClr val="tx1">
                    <a:lumMod val="75000"/>
                    <a:lumOff val="25000"/>
                  </a:schemeClr>
                </a:solidFill>
              </a:rPr>
              <a:t>.</a:t>
            </a:r>
          </a:p>
          <a:p>
            <a:endParaRPr lang="en-SG" sz="2000" dirty="0">
              <a:solidFill>
                <a:schemeClr val="tx1">
                  <a:lumMod val="75000"/>
                  <a:lumOff val="25000"/>
                </a:schemeClr>
              </a:solidFill>
            </a:endParaRPr>
          </a:p>
        </p:txBody>
      </p:sp>
    </p:spTree>
    <p:extLst>
      <p:ext uri="{BB962C8B-B14F-4D97-AF65-F5344CB8AC3E}">
        <p14:creationId xmlns:p14="http://schemas.microsoft.com/office/powerpoint/2010/main" val="23053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287338"/>
            <a:ext cx="10058400" cy="1449387"/>
          </a:xfrm>
        </p:spPr>
        <p:txBody>
          <a:bodyPr/>
          <a:lstStyle/>
          <a:p>
            <a:r>
              <a:rPr lang="en-SG" dirty="0" smtClean="0"/>
              <a:t>Step 1 : Set two goals in each area</a:t>
            </a:r>
            <a:endParaRPr lang="en-US" dirty="0"/>
          </a:p>
        </p:txBody>
      </p:sp>
      <p:sp>
        <p:nvSpPr>
          <p:cNvPr id="3" name="Content Placeholder 2"/>
          <p:cNvSpPr>
            <a:spLocks noGrp="1"/>
          </p:cNvSpPr>
          <p:nvPr>
            <p:ph idx="4294967295"/>
          </p:nvPr>
        </p:nvSpPr>
        <p:spPr>
          <a:xfrm>
            <a:off x="838200" y="2011363"/>
            <a:ext cx="10515600" cy="1471612"/>
          </a:xfrm>
        </p:spPr>
        <p:txBody>
          <a:bodyPr>
            <a:normAutofit/>
          </a:bodyPr>
          <a:lstStyle/>
          <a:p>
            <a:r>
              <a:rPr lang="en-SG" sz="2800" dirty="0">
                <a:solidFill>
                  <a:schemeClr val="tx1"/>
                </a:solidFill>
              </a:rPr>
              <a:t>Academic: Complete the first draft of my assignment by Friday.</a:t>
            </a:r>
          </a:p>
          <a:p>
            <a:r>
              <a:rPr lang="en-SG" sz="2800" dirty="0">
                <a:solidFill>
                  <a:schemeClr val="tx1"/>
                </a:solidFill>
              </a:rPr>
              <a:t>Personal: Exercise for 30 minutes, 5 days a week, for the next month</a:t>
            </a:r>
            <a:endParaRPr lang="en-US" sz="2800" dirty="0">
              <a:solidFill>
                <a:schemeClr val="tx1"/>
              </a:solidFill>
            </a:endParaRPr>
          </a:p>
        </p:txBody>
      </p:sp>
      <p:sp>
        <p:nvSpPr>
          <p:cNvPr id="4" name="Title 1"/>
          <p:cNvSpPr txBox="1">
            <a:spLocks/>
          </p:cNvSpPr>
          <p:nvPr/>
        </p:nvSpPr>
        <p:spPr>
          <a:xfrm>
            <a:off x="838200" y="282047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smtClean="0"/>
              <a:t>Step 2: Identify the tasks </a:t>
            </a:r>
            <a:endParaRPr lang="en-US" dirty="0"/>
          </a:p>
        </p:txBody>
      </p:sp>
      <p:sp>
        <p:nvSpPr>
          <p:cNvPr id="5" name="Rectangle 4"/>
          <p:cNvSpPr/>
          <p:nvPr/>
        </p:nvSpPr>
        <p:spPr>
          <a:xfrm>
            <a:off x="838200" y="3863078"/>
            <a:ext cx="10237631" cy="2369880"/>
          </a:xfrm>
          <a:prstGeom prst="rect">
            <a:avLst/>
          </a:prstGeom>
        </p:spPr>
        <p:txBody>
          <a:bodyPr wrap="square">
            <a:spAutoFit/>
          </a:bodyPr>
          <a:lstStyle/>
          <a:p>
            <a:r>
              <a:rPr lang="en-SG" sz="2800" dirty="0"/>
              <a:t>For each goal:</a:t>
            </a:r>
          </a:p>
          <a:p>
            <a:pPr>
              <a:buFont typeface="+mj-lt"/>
              <a:buAutoNum type="arabicPeriod"/>
            </a:pPr>
            <a:r>
              <a:rPr lang="en-SG" sz="2800" dirty="0"/>
              <a:t>Write down tasks or steps required to accomplish it.</a:t>
            </a:r>
          </a:p>
          <a:p>
            <a:pPr>
              <a:buFont typeface="+mj-lt"/>
              <a:buAutoNum type="arabicPeriod"/>
            </a:pPr>
            <a:r>
              <a:rPr lang="en-SG" sz="2800" dirty="0"/>
              <a:t>Be specific (e.g., "Read three journal articles for my </a:t>
            </a:r>
            <a:r>
              <a:rPr lang="en-SG" sz="2800" dirty="0" smtClean="0"/>
              <a:t>assignment" </a:t>
            </a:r>
            <a:r>
              <a:rPr lang="en-SG" sz="2800" dirty="0"/>
              <a:t>instead of "Study").</a:t>
            </a:r>
          </a:p>
          <a:p>
            <a:r>
              <a:rPr lang="en-SG" dirty="0" smtClean="0"/>
              <a:t/>
            </a:r>
            <a:br>
              <a:rPr lang="en-SG" dirty="0" smtClean="0"/>
            </a:br>
            <a:endParaRPr lang="en-US" dirty="0"/>
          </a:p>
        </p:txBody>
      </p:sp>
    </p:spTree>
    <p:extLst>
      <p:ext uri="{BB962C8B-B14F-4D97-AF65-F5344CB8AC3E}">
        <p14:creationId xmlns:p14="http://schemas.microsoft.com/office/powerpoint/2010/main" val="1356755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50006" y="1445766"/>
            <a:ext cx="10515600" cy="1325562"/>
          </a:xfrm>
        </p:spPr>
        <p:txBody>
          <a:bodyPr>
            <a:normAutofit fontScale="90000"/>
          </a:bodyPr>
          <a:lstStyle/>
          <a:p>
            <a:pPr lvl="0"/>
            <a:r>
              <a:rPr lang="en-SG" dirty="0" smtClean="0"/>
              <a:t>Step 3 </a:t>
            </a:r>
            <a:r>
              <a:rPr lang="en-SG" dirty="0"/>
              <a:t>: </a:t>
            </a:r>
            <a:r>
              <a:rPr lang="en-US" b="1" dirty="0"/>
              <a:t>Prioritize Tasks Using the Eisenhower Matrix</a:t>
            </a:r>
            <a:endParaRPr lang="en-US" dirty="0"/>
          </a:p>
        </p:txBody>
      </p:sp>
      <p:sp>
        <p:nvSpPr>
          <p:cNvPr id="6" name="Title 1"/>
          <p:cNvSpPr txBox="1">
            <a:spLocks/>
          </p:cNvSpPr>
          <p:nvPr/>
        </p:nvSpPr>
        <p:spPr>
          <a:xfrm>
            <a:off x="850006" y="277132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smtClean="0"/>
              <a:t>Step 4 : </a:t>
            </a:r>
            <a:r>
              <a:rPr lang="en-US" dirty="0" smtClean="0"/>
              <a:t>Create a weekly plan </a:t>
            </a:r>
            <a:endParaRPr lang="en-US" dirty="0"/>
          </a:p>
        </p:txBody>
      </p:sp>
      <p:sp>
        <p:nvSpPr>
          <p:cNvPr id="7" name="Content Placeholder 2"/>
          <p:cNvSpPr txBox="1">
            <a:spLocks/>
          </p:cNvSpPr>
          <p:nvPr/>
        </p:nvSpPr>
        <p:spPr>
          <a:xfrm>
            <a:off x="850006" y="4096891"/>
            <a:ext cx="10515600" cy="14713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dirty="0" smtClean="0"/>
              <a:t>Allocate </a:t>
            </a:r>
            <a:r>
              <a:rPr lang="en-SG" dirty="0"/>
              <a:t>specific days and times for each task</a:t>
            </a:r>
            <a:r>
              <a:rPr lang="en-SG" dirty="0" smtClean="0"/>
              <a:t>.</a:t>
            </a:r>
          </a:p>
          <a:p>
            <a:r>
              <a:rPr lang="en-SG" dirty="0"/>
              <a:t>Use a table, planner, or digital calendar to organize tasks.</a:t>
            </a:r>
          </a:p>
          <a:p>
            <a:endParaRPr lang="en-SG" dirty="0"/>
          </a:p>
        </p:txBody>
      </p:sp>
    </p:spTree>
    <p:extLst>
      <p:ext uri="{BB962C8B-B14F-4D97-AF65-F5344CB8AC3E}">
        <p14:creationId xmlns:p14="http://schemas.microsoft.com/office/powerpoint/2010/main" val="2222429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b="1" dirty="0" smtClean="0"/>
              <a:t>PROCRASINATION </a:t>
            </a:r>
            <a:endParaRPr lang="en-US" b="1" dirty="0"/>
          </a:p>
        </p:txBody>
      </p:sp>
    </p:spTree>
    <p:extLst>
      <p:ext uri="{BB962C8B-B14F-4D97-AF65-F5344CB8AC3E}">
        <p14:creationId xmlns:p14="http://schemas.microsoft.com/office/powerpoint/2010/main" val="915243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b="1" dirty="0" smtClean="0"/>
              <a:t>What it is?</a:t>
            </a:r>
            <a:br>
              <a:rPr lang="en-SG" b="1" dirty="0" smtClean="0"/>
            </a:br>
            <a:endParaRPr lang="en-US" dirty="0"/>
          </a:p>
        </p:txBody>
      </p:sp>
      <p:sp>
        <p:nvSpPr>
          <p:cNvPr id="3" name="Content Placeholder 2"/>
          <p:cNvSpPr>
            <a:spLocks noGrp="1"/>
          </p:cNvSpPr>
          <p:nvPr>
            <p:ph idx="1"/>
          </p:nvPr>
        </p:nvSpPr>
        <p:spPr/>
        <p:txBody>
          <a:bodyPr/>
          <a:lstStyle/>
          <a:p>
            <a:r>
              <a:rPr lang="en-SG" dirty="0"/>
              <a:t>T</a:t>
            </a:r>
            <a:r>
              <a:rPr lang="en-SG" dirty="0" smtClean="0"/>
              <a:t>he </a:t>
            </a:r>
            <a:r>
              <a:rPr lang="en-SG" b="1" dirty="0" smtClean="0"/>
              <a:t>act of delaying or postponing tasks or decisions, often unnecessarily</a:t>
            </a:r>
            <a:r>
              <a:rPr lang="en-SG" dirty="0" smtClean="0"/>
              <a:t>, despite knowing that doing so might have negative consequences. </a:t>
            </a:r>
          </a:p>
          <a:p>
            <a:endParaRPr lang="en-SG" b="1" dirty="0"/>
          </a:p>
          <a:p>
            <a:pPr marL="0" indent="0">
              <a:buNone/>
            </a:pPr>
            <a:r>
              <a:rPr lang="en-SG" b="1" dirty="0" smtClean="0"/>
              <a:t>Example</a:t>
            </a:r>
            <a:r>
              <a:rPr lang="en-SG" dirty="0" smtClean="0"/>
              <a:t>: Have you ever delayed starting an assignment until the night before, even though you had weeks to work on it? </a:t>
            </a:r>
            <a:endParaRPr lang="en-US" dirty="0"/>
          </a:p>
        </p:txBody>
      </p:sp>
    </p:spTree>
    <p:extLst>
      <p:ext uri="{BB962C8B-B14F-4D97-AF65-F5344CB8AC3E}">
        <p14:creationId xmlns:p14="http://schemas.microsoft.com/office/powerpoint/2010/main" val="30689062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17124" y="743553"/>
            <a:ext cx="9456431" cy="4728216"/>
          </a:xfrm>
          <a:prstGeom prst="rect">
            <a:avLst/>
          </a:prstGeom>
        </p:spPr>
      </p:pic>
    </p:spTree>
    <p:extLst>
      <p:ext uri="{BB962C8B-B14F-4D97-AF65-F5344CB8AC3E}">
        <p14:creationId xmlns:p14="http://schemas.microsoft.com/office/powerpoint/2010/main" val="2524821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Why?</a:t>
            </a:r>
            <a:endParaRPr lang="en-US" dirty="0"/>
          </a:p>
        </p:txBody>
      </p:sp>
      <p:sp>
        <p:nvSpPr>
          <p:cNvPr id="3" name="Content Placeholder 2"/>
          <p:cNvSpPr>
            <a:spLocks noGrp="1"/>
          </p:cNvSpPr>
          <p:nvPr>
            <p:ph idx="1"/>
          </p:nvPr>
        </p:nvSpPr>
        <p:spPr>
          <a:xfrm>
            <a:off x="1097280" y="1845733"/>
            <a:ext cx="10058400" cy="4310367"/>
          </a:xfrm>
        </p:spPr>
        <p:txBody>
          <a:bodyPr>
            <a:normAutofit fontScale="92500" lnSpcReduction="10000"/>
          </a:bodyPr>
          <a:lstStyle/>
          <a:p>
            <a:r>
              <a:rPr lang="en-SG" b="1" dirty="0" smtClean="0"/>
              <a:t>Fear of Failure</a:t>
            </a:r>
          </a:p>
          <a:p>
            <a:r>
              <a:rPr lang="en-SG" dirty="0" smtClean="0"/>
              <a:t>Avoiding a presentation because you’re anxious about speaking in front of others.</a:t>
            </a:r>
          </a:p>
          <a:p>
            <a:r>
              <a:rPr lang="en-SG" b="1" dirty="0" smtClean="0"/>
              <a:t>Lack of Interest or Motivation</a:t>
            </a:r>
          </a:p>
          <a:p>
            <a:r>
              <a:rPr lang="en-SG" dirty="0"/>
              <a:t>Procrastinating</a:t>
            </a:r>
            <a:r>
              <a:rPr lang="en-SG" dirty="0" smtClean="0"/>
              <a:t> on cleaning your room because it feels boring or unimportant.</a:t>
            </a:r>
          </a:p>
          <a:p>
            <a:r>
              <a:rPr lang="en-SG" b="1" dirty="0" smtClean="0"/>
              <a:t>Perfectionism</a:t>
            </a:r>
          </a:p>
          <a:p>
            <a:r>
              <a:rPr lang="en-SG" dirty="0" smtClean="0"/>
              <a:t>Spending hours tweaking an essay introduction instead of writing the whole draft.</a:t>
            </a:r>
          </a:p>
          <a:p>
            <a:r>
              <a:rPr lang="en-SG" b="1" dirty="0" smtClean="0"/>
              <a:t>Feeling Overwhelmed </a:t>
            </a:r>
          </a:p>
          <a:p>
            <a:r>
              <a:rPr lang="en-SG" dirty="0" smtClean="0"/>
              <a:t>Putting off studying for a big exam because the material feels unmanageable.</a:t>
            </a:r>
          </a:p>
          <a:p>
            <a:r>
              <a:rPr lang="en-SG" b="1" dirty="0" smtClean="0"/>
              <a:t>Poor Time Management or Prioritization</a:t>
            </a:r>
          </a:p>
          <a:p>
            <a:r>
              <a:rPr lang="en-SG" dirty="0" smtClean="0"/>
              <a:t>Sometimes procrastination happens simply because people don’t allocate time effectively or struggle to prioritize tasks.</a:t>
            </a:r>
            <a:endParaRPr lang="en-US" dirty="0"/>
          </a:p>
        </p:txBody>
      </p:sp>
    </p:spTree>
    <p:extLst>
      <p:ext uri="{BB962C8B-B14F-4D97-AF65-F5344CB8AC3E}">
        <p14:creationId xmlns:p14="http://schemas.microsoft.com/office/powerpoint/2010/main" val="36384822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Results</a:t>
            </a:r>
            <a:endParaRPr lang="en-US" dirty="0"/>
          </a:p>
        </p:txBody>
      </p:sp>
      <p:sp>
        <p:nvSpPr>
          <p:cNvPr id="3" name="Content Placeholder 2"/>
          <p:cNvSpPr>
            <a:spLocks noGrp="1"/>
          </p:cNvSpPr>
          <p:nvPr>
            <p:ph idx="1"/>
          </p:nvPr>
        </p:nvSpPr>
        <p:spPr/>
        <p:txBody>
          <a:bodyPr>
            <a:normAutofit/>
          </a:bodyPr>
          <a:lstStyle/>
          <a:p>
            <a:r>
              <a:rPr lang="en-SG" dirty="0" smtClean="0"/>
              <a:t>Procrastination often leads to rushed work or missed deadlines, resulting in subpar performance.</a:t>
            </a:r>
          </a:p>
          <a:p>
            <a:r>
              <a:rPr lang="en-SG" dirty="0" smtClean="0"/>
              <a:t>Important tasks may pile up, creating unnecessary stress and making it harder to focus.</a:t>
            </a:r>
          </a:p>
          <a:p>
            <a:r>
              <a:rPr lang="en-SG" dirty="0" smtClean="0"/>
              <a:t>Procrastination creates a cycle of stress, as tasks left undone loom over you.</a:t>
            </a:r>
          </a:p>
          <a:p>
            <a:r>
              <a:rPr lang="en-SG" dirty="0" smtClean="0"/>
              <a:t>Chronic procrastinators often feel guilty or frustrated with themselves, which can harm self-esteem.</a:t>
            </a:r>
          </a:p>
          <a:p>
            <a:r>
              <a:rPr lang="en-SG" dirty="0" smtClean="0"/>
              <a:t>Constantly playing catch-up leads to exhaustion and burnout, especially when deadlines are tight.</a:t>
            </a:r>
          </a:p>
          <a:p>
            <a:r>
              <a:rPr lang="en-SG" dirty="0" smtClean="0"/>
              <a:t>Delaying tasks can mean missing out on valuable opportunities, whether in education, career, or personal growth.</a:t>
            </a:r>
            <a:endParaRPr lang="en-US" dirty="0"/>
          </a:p>
        </p:txBody>
      </p:sp>
    </p:spTree>
    <p:extLst>
      <p:ext uri="{BB962C8B-B14F-4D97-AF65-F5344CB8AC3E}">
        <p14:creationId xmlns:p14="http://schemas.microsoft.com/office/powerpoint/2010/main" val="1220046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How to cope</a:t>
            </a:r>
            <a:endParaRPr lang="en-US" dirty="0"/>
          </a:p>
        </p:txBody>
      </p:sp>
      <p:sp>
        <p:nvSpPr>
          <p:cNvPr id="3" name="Content Placeholder 2"/>
          <p:cNvSpPr>
            <a:spLocks noGrp="1"/>
          </p:cNvSpPr>
          <p:nvPr>
            <p:ph idx="1"/>
          </p:nvPr>
        </p:nvSpPr>
        <p:spPr/>
        <p:txBody>
          <a:bodyPr/>
          <a:lstStyle/>
          <a:p>
            <a:r>
              <a:rPr lang="en-SG" dirty="0" smtClean="0"/>
              <a:t>Time blocking </a:t>
            </a:r>
          </a:p>
          <a:p>
            <a:r>
              <a:rPr lang="en-SG" dirty="0" smtClean="0"/>
              <a:t>Chunking </a:t>
            </a:r>
            <a:endParaRPr lang="en-SG" dirty="0" smtClean="0"/>
          </a:p>
          <a:p>
            <a:r>
              <a:rPr lang="en-SG" dirty="0" smtClean="0"/>
              <a:t>80/20 Rule </a:t>
            </a:r>
            <a:endParaRPr lang="en-SG" dirty="0" smtClean="0"/>
          </a:p>
          <a:p>
            <a:r>
              <a:rPr lang="en-SG" dirty="0" smtClean="0"/>
              <a:t>The </a:t>
            </a:r>
            <a:r>
              <a:rPr lang="en-SG" dirty="0" err="1" smtClean="0"/>
              <a:t>Pomodoro</a:t>
            </a:r>
            <a:r>
              <a:rPr lang="en-SG" dirty="0" smtClean="0"/>
              <a:t> technique</a:t>
            </a:r>
          </a:p>
          <a:p>
            <a:r>
              <a:rPr lang="en-SG" dirty="0" smtClean="0"/>
              <a:t>Setting </a:t>
            </a:r>
            <a:r>
              <a:rPr lang="en-SG" dirty="0" smtClean="0"/>
              <a:t>Deadlines ( scheduling)  </a:t>
            </a:r>
            <a:endParaRPr lang="en-SG" dirty="0" smtClean="0"/>
          </a:p>
          <a:p>
            <a:r>
              <a:rPr lang="en-SG" dirty="0" smtClean="0"/>
              <a:t>Use the Eisenhower matrix to prioritise</a:t>
            </a:r>
          </a:p>
          <a:p>
            <a:r>
              <a:rPr lang="en-SG" dirty="0" smtClean="0"/>
              <a:t>Eliminate </a:t>
            </a:r>
            <a:r>
              <a:rPr lang="en-SG" dirty="0" smtClean="0"/>
              <a:t>Distractions and setting boundaries </a:t>
            </a:r>
            <a:endParaRPr lang="en-SG" dirty="0" smtClean="0"/>
          </a:p>
          <a:p>
            <a:pPr marL="0" indent="0">
              <a:buNone/>
            </a:pPr>
            <a:endParaRPr lang="en-SG" dirty="0" smtClean="0"/>
          </a:p>
          <a:p>
            <a:endParaRPr lang="en-SG" dirty="0" smtClean="0"/>
          </a:p>
          <a:p>
            <a:endParaRPr lang="en-SG" dirty="0" smtClean="0"/>
          </a:p>
          <a:p>
            <a:endParaRPr lang="en-US" dirty="0"/>
          </a:p>
        </p:txBody>
      </p:sp>
    </p:spTree>
    <p:extLst>
      <p:ext uri="{BB962C8B-B14F-4D97-AF65-F5344CB8AC3E}">
        <p14:creationId xmlns:p14="http://schemas.microsoft.com/office/powerpoint/2010/main" val="18411195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the </a:t>
            </a:r>
            <a:r>
              <a:rPr lang="en-SG" dirty="0" err="1" smtClean="0"/>
              <a:t>Pomodoro</a:t>
            </a:r>
            <a:r>
              <a:rPr lang="en-SG" dirty="0" smtClean="0"/>
              <a:t> Technique </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6553131" y="2406282"/>
            <a:ext cx="2655263" cy="2902264"/>
          </a:xfrm>
          <a:prstGeom prst="rect">
            <a:avLst/>
          </a:prstGeom>
        </p:spPr>
      </p:pic>
    </p:spTree>
    <p:extLst>
      <p:ext uri="{BB962C8B-B14F-4D97-AF65-F5344CB8AC3E}">
        <p14:creationId xmlns:p14="http://schemas.microsoft.com/office/powerpoint/2010/main" val="3492413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the 80/20 Rule </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6553131" y="2406282"/>
            <a:ext cx="2655263" cy="2902264"/>
          </a:xfrm>
          <a:prstGeom prst="rect">
            <a:avLst/>
          </a:prstGeom>
        </p:spPr>
      </p:pic>
    </p:spTree>
    <p:extLst>
      <p:ext uri="{BB962C8B-B14F-4D97-AF65-F5344CB8AC3E}">
        <p14:creationId xmlns:p14="http://schemas.microsoft.com/office/powerpoint/2010/main" val="1837980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Time Blocking </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6982025" y="2615015"/>
            <a:ext cx="2883192" cy="2883192"/>
          </a:xfrm>
          <a:prstGeom prst="rect">
            <a:avLst/>
          </a:prstGeom>
        </p:spPr>
      </p:pic>
    </p:spTree>
    <p:extLst>
      <p:ext uri="{BB962C8B-B14F-4D97-AF65-F5344CB8AC3E}">
        <p14:creationId xmlns:p14="http://schemas.microsoft.com/office/powerpoint/2010/main" val="42924418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Chunking </a:t>
            </a:r>
            <a:endParaRPr lang="en-US" dirty="0"/>
          </a:p>
        </p:txBody>
      </p:sp>
      <p:pic>
        <p:nvPicPr>
          <p:cNvPr id="4" name="Picture 3"/>
          <p:cNvPicPr>
            <a:picLocks noChangeAspect="1"/>
          </p:cNvPicPr>
          <p:nvPr/>
        </p:nvPicPr>
        <p:blipFill>
          <a:blip r:embed="rId2"/>
          <a:stretch>
            <a:fillRect/>
          </a:stretch>
        </p:blipFill>
        <p:spPr>
          <a:xfrm>
            <a:off x="3696302" y="2264133"/>
            <a:ext cx="2743134" cy="3411858"/>
          </a:xfrm>
          <a:prstGeom prst="rect">
            <a:avLst/>
          </a:prstGeom>
        </p:spPr>
      </p:pic>
    </p:spTree>
    <p:extLst>
      <p:ext uri="{BB962C8B-B14F-4D97-AF65-F5344CB8AC3E}">
        <p14:creationId xmlns:p14="http://schemas.microsoft.com/office/powerpoint/2010/main" val="2353147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a:t>
            </a:r>
            <a:r>
              <a:rPr lang="en-SG" dirty="0" smtClean="0"/>
              <a:t>Scheduling </a:t>
            </a:r>
            <a:endParaRPr lang="en-US" dirty="0"/>
          </a:p>
        </p:txBody>
      </p:sp>
      <p:pic>
        <p:nvPicPr>
          <p:cNvPr id="4" name="Picture 3"/>
          <p:cNvPicPr>
            <a:picLocks noChangeAspect="1"/>
          </p:cNvPicPr>
          <p:nvPr/>
        </p:nvPicPr>
        <p:blipFill>
          <a:blip r:embed="rId2"/>
          <a:stretch>
            <a:fillRect/>
          </a:stretch>
        </p:blipFill>
        <p:spPr>
          <a:xfrm>
            <a:off x="3747818" y="2264133"/>
            <a:ext cx="2743134" cy="3411858"/>
          </a:xfrm>
          <a:prstGeom prst="rect">
            <a:avLst/>
          </a:prstGeom>
        </p:spPr>
      </p:pic>
    </p:spTree>
    <p:extLst>
      <p:ext uri="{BB962C8B-B14F-4D97-AF65-F5344CB8AC3E}">
        <p14:creationId xmlns:p14="http://schemas.microsoft.com/office/powerpoint/2010/main" val="30580810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How to eliminate distractions and set boundaries. </a:t>
            </a:r>
            <a:endParaRPr lang="en-US" dirty="0"/>
          </a:p>
        </p:txBody>
      </p:sp>
      <p:pic>
        <p:nvPicPr>
          <p:cNvPr id="4" name="Content Placeholder 3"/>
          <p:cNvPicPr>
            <a:picLocks noGrp="1" noChangeAspect="1"/>
          </p:cNvPicPr>
          <p:nvPr>
            <p:ph idx="1"/>
          </p:nvPr>
        </p:nvPicPr>
        <p:blipFill>
          <a:blip r:embed="rId2"/>
          <a:stretch>
            <a:fillRect/>
          </a:stretch>
        </p:blipFill>
        <p:spPr>
          <a:xfrm>
            <a:off x="5168900" y="2667000"/>
            <a:ext cx="1914525" cy="2381250"/>
          </a:xfrm>
          <a:prstGeom prst="rect">
            <a:avLst/>
          </a:prstGeom>
        </p:spPr>
      </p:pic>
    </p:spTree>
    <p:extLst>
      <p:ext uri="{BB962C8B-B14F-4D97-AF65-F5344CB8AC3E}">
        <p14:creationId xmlns:p14="http://schemas.microsoft.com/office/powerpoint/2010/main" val="402133477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373</TotalTime>
  <Words>1804</Words>
  <Application>Microsoft Office PowerPoint</Application>
  <PresentationFormat>Widescreen</PresentationFormat>
  <Paragraphs>160</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Retrospect</vt:lpstr>
      <vt:lpstr>Philosophical view on time</vt:lpstr>
      <vt:lpstr>PowerPoint Presentation</vt:lpstr>
      <vt:lpstr>Time Management </vt:lpstr>
      <vt:lpstr>Objectives</vt:lpstr>
      <vt:lpstr>Time </vt:lpstr>
      <vt:lpstr>PowerPoint Presentation</vt:lpstr>
      <vt:lpstr>PowerPoint Presentation</vt:lpstr>
      <vt:lpstr>QUIZ </vt:lpstr>
      <vt:lpstr>Quiz Scoring: </vt:lpstr>
      <vt:lpstr>Group Discussion </vt:lpstr>
      <vt:lpstr>What is time management </vt:lpstr>
      <vt:lpstr>Time Management Challenges </vt:lpstr>
      <vt:lpstr>Importance of time management  (for teachers )</vt:lpstr>
      <vt:lpstr>Prioritization </vt:lpstr>
      <vt:lpstr>Cost of Poor Prioritization </vt:lpstr>
      <vt:lpstr> Eisenhower Matrix</vt:lpstr>
      <vt:lpstr>PowerPoint Presentation</vt:lpstr>
      <vt:lpstr>Sort into the fours quadrants </vt:lpstr>
      <vt:lpstr>Step 1 : Set two goals in each area</vt:lpstr>
      <vt:lpstr>Step 3 : Prioritize Tasks Using the Eisenhower Matrix</vt:lpstr>
      <vt:lpstr>PROCRASINATION </vt:lpstr>
      <vt:lpstr>What it is? </vt:lpstr>
      <vt:lpstr>PowerPoint Presentation</vt:lpstr>
      <vt:lpstr>Why?</vt:lpstr>
      <vt:lpstr>Results</vt:lpstr>
      <vt:lpstr>How to cope</vt:lpstr>
      <vt:lpstr>What is the Pomodoro Technique </vt:lpstr>
      <vt:lpstr>What is the 80/20 Rule </vt:lpstr>
      <vt:lpstr>What is Time Blocking </vt:lpstr>
      <vt:lpstr>What is Chunking </vt:lpstr>
      <vt:lpstr>What is Scheduling </vt:lpstr>
      <vt:lpstr>How to eliminate distractions and set boundaries. </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HP</cp:lastModifiedBy>
  <cp:revision>27</cp:revision>
  <dcterms:created xsi:type="dcterms:W3CDTF">2024-11-16T14:28:34Z</dcterms:created>
  <dcterms:modified xsi:type="dcterms:W3CDTF">2026-02-26T14:23:40Z</dcterms:modified>
</cp:coreProperties>
</file>
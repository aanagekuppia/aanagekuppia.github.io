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4"/>
  </p:notesMasterIdLst>
  <p:handoutMasterIdLst>
    <p:handoutMasterId r:id="rId25"/>
  </p:handoutMasterIdLst>
  <p:sldIdLst>
    <p:sldId id="300" r:id="rId5"/>
    <p:sldId id="298" r:id="rId6"/>
    <p:sldId id="297" r:id="rId7"/>
    <p:sldId id="283" r:id="rId8"/>
    <p:sldId id="301" r:id="rId9"/>
    <p:sldId id="292" r:id="rId10"/>
    <p:sldId id="302" r:id="rId11"/>
    <p:sldId id="303" r:id="rId12"/>
    <p:sldId id="305" r:id="rId13"/>
    <p:sldId id="306" r:id="rId14"/>
    <p:sldId id="304" r:id="rId15"/>
    <p:sldId id="312" r:id="rId16"/>
    <p:sldId id="311" r:id="rId17"/>
    <p:sldId id="307" r:id="rId18"/>
    <p:sldId id="308" r:id="rId19"/>
    <p:sldId id="309" r:id="rId20"/>
    <p:sldId id="310" r:id="rId21"/>
    <p:sldId id="313" r:id="rId22"/>
    <p:sldId id="31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712" autoAdjust="0"/>
  </p:normalViewPr>
  <p:slideViewPr>
    <p:cSldViewPr snapToGrid="0">
      <p:cViewPr varScale="1">
        <p:scale>
          <a:sx n="74" d="100"/>
          <a:sy n="74" d="100"/>
        </p:scale>
        <p:origin x="576" y="66"/>
      </p:cViewPr>
      <p:guideLst/>
    </p:cSldViewPr>
  </p:slideViewPr>
  <p:outlineViewPr>
    <p:cViewPr>
      <p:scale>
        <a:sx n="33" d="100"/>
        <a:sy n="33" d="100"/>
      </p:scale>
      <p:origin x="0" y="-942"/>
    </p:cViewPr>
  </p:outlineViewPr>
  <p:notesTextViewPr>
    <p:cViewPr>
      <p:scale>
        <a:sx n="3" d="2"/>
        <a:sy n="3" d="2"/>
      </p:scale>
      <p:origin x="0" y="0"/>
    </p:cViewPr>
  </p:notesTextViewPr>
  <p:sorterViewPr>
    <p:cViewPr>
      <p:scale>
        <a:sx n="75" d="100"/>
        <a:sy n="75" d="100"/>
      </p:scale>
      <p:origin x="0" y="0"/>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2/22/2026</a:t>
            </a:fld>
            <a:endParaRPr lang="en-US"/>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2/22/2026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xmlns="" id="{EB7F0EE8-BE52-4A79-8FC8-4A2487FA01FC}"/>
              </a:ext>
            </a:extLst>
          </p:cNvPr>
          <p:cNvSpPr>
            <a:spLocks noGrp="1"/>
          </p:cNvSpPr>
          <p:nvPr>
            <p:ph type="pic" sz="quarter" idx="10" hasCustomPrompt="1"/>
          </p:nvPr>
        </p:nvSpPr>
        <p:spPr>
          <a:xfrm>
            <a:off x="0" y="0"/>
            <a:ext cx="9780588" cy="6804025"/>
          </a:xfrm>
          <a:solidFill>
            <a:schemeClr val="bg1">
              <a:lumMod val="85000"/>
            </a:schemeClr>
          </a:solidFill>
        </p:spPr>
        <p:txBody>
          <a:bodyPr tIns="1728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a16="http://schemas.microsoft.com/office/drawing/2014/main" xmlns=""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a16="http://schemas.microsoft.com/office/drawing/2014/main" xmlns=""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smtClean="0"/>
              <a:t>Click to edit Master subtitle style</a:t>
            </a:r>
            <a:endParaRPr lang="en-US" noProof="0"/>
          </a:p>
        </p:txBody>
      </p:sp>
      <p:sp>
        <p:nvSpPr>
          <p:cNvPr id="13" name="Rectangle 12">
            <a:extLst>
              <a:ext uri="{FF2B5EF4-FFF2-40B4-BE49-F238E27FC236}">
                <a16:creationId xmlns:a16="http://schemas.microsoft.com/office/drawing/2014/main" xmlns=""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xmlns=""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xmlns=""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xmlns=""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xmlns="" id="{EB7F0EE8-BE52-4A79-8FC8-4A2487FA01FC}"/>
              </a:ext>
            </a:extLst>
          </p:cNvPr>
          <p:cNvSpPr>
            <a:spLocks noGrp="1"/>
          </p:cNvSpPr>
          <p:nvPr>
            <p:ph type="pic" sz="quarter" idx="10" hasCustomPrompt="1"/>
          </p:nvPr>
        </p:nvSpPr>
        <p:spPr>
          <a:xfrm>
            <a:off x="0"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2" name="Title 1">
            <a:extLst>
              <a:ext uri="{FF2B5EF4-FFF2-40B4-BE49-F238E27FC236}">
                <a16:creationId xmlns:a16="http://schemas.microsoft.com/office/drawing/2014/main" xmlns="" id="{00F23EB7-E336-46EB-A4A0-3DB7A6BF4CE1}"/>
              </a:ext>
            </a:extLst>
          </p:cNvPr>
          <p:cNvSpPr>
            <a:spLocks noGrp="1"/>
          </p:cNvSpPr>
          <p:nvPr>
            <p:ph type="ctrTitle" hasCustomPrompt="1"/>
          </p:nvPr>
        </p:nvSpPr>
        <p:spPr>
          <a:xfrm>
            <a:off x="6235700" y="2204792"/>
            <a:ext cx="5956300" cy="1944000"/>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section divider</a:t>
            </a:r>
          </a:p>
        </p:txBody>
      </p:sp>
      <p:sp>
        <p:nvSpPr>
          <p:cNvPr id="7" name="Subtitle 2">
            <a:extLst>
              <a:ext uri="{FF2B5EF4-FFF2-40B4-BE49-F238E27FC236}">
                <a16:creationId xmlns:a16="http://schemas.microsoft.com/office/drawing/2014/main" xmlns="" id="{9E4D4535-D519-40ED-B8A4-2EA1276BB652}"/>
              </a:ext>
            </a:extLst>
          </p:cNvPr>
          <p:cNvSpPr>
            <a:spLocks noGrp="1"/>
          </p:cNvSpPr>
          <p:nvPr>
            <p:ph type="body" sz="quarter" idx="13" hasCustomPrompt="1"/>
          </p:nvPr>
        </p:nvSpPr>
        <p:spPr>
          <a:xfrm>
            <a:off x="6235700" y="4148860"/>
            <a:ext cx="5956300" cy="1100565"/>
          </a:xfrm>
          <a:solidFill>
            <a:schemeClr val="tx1">
              <a:alpha val="80000"/>
            </a:schemeClr>
          </a:solidFill>
        </p:spPr>
        <p:txBody>
          <a:bodyPr lIns="180000" tIns="180000" rIns="252000" bIns="180000"/>
          <a:lstStyle>
            <a:lvl1pPr marL="0" indent="0" algn="r">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a16="http://schemas.microsoft.com/office/drawing/2014/main" xmlns=""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xmlns="" id="{51DD44D8-4A8F-4693-B90A-166855B29D25}"/>
              </a:ext>
            </a:extLst>
          </p:cNvPr>
          <p:cNvSpPr/>
          <p:nvPr userDrawn="1"/>
        </p:nvSpPr>
        <p:spPr>
          <a:xfrm>
            <a:off x="9780588" y="524778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xmlns=""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xmlns=""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xmlns=""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437159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er Slide 2">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xmlns="" id="{EB7F0EE8-BE52-4A79-8FC8-4A2487FA01FC}"/>
              </a:ext>
            </a:extLst>
          </p:cNvPr>
          <p:cNvSpPr>
            <a:spLocks noGrp="1"/>
          </p:cNvSpPr>
          <p:nvPr>
            <p:ph type="pic" sz="quarter" idx="10" hasCustomPrompt="1"/>
          </p:nvPr>
        </p:nvSpPr>
        <p:spPr>
          <a:xfrm>
            <a:off x="2411412"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3" name="Title 1">
            <a:extLst>
              <a:ext uri="{FF2B5EF4-FFF2-40B4-BE49-F238E27FC236}">
                <a16:creationId xmlns:a16="http://schemas.microsoft.com/office/drawing/2014/main" xmlns=""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7" name="Subtitle 2">
            <a:extLst>
              <a:ext uri="{FF2B5EF4-FFF2-40B4-BE49-F238E27FC236}">
                <a16:creationId xmlns:a16="http://schemas.microsoft.com/office/drawing/2014/main" xmlns="" id="{9E4D4535-D519-40ED-B8A4-2EA1276BB652}"/>
              </a:ext>
            </a:extLst>
          </p:cNvPr>
          <p:cNvSpPr>
            <a:spLocks noGrp="1"/>
          </p:cNvSpPr>
          <p:nvPr>
            <p:ph type="body" sz="quarter" idx="13" hasCustomPrompt="1"/>
          </p:nvPr>
        </p:nvSpPr>
        <p:spPr>
          <a:xfrm>
            <a:off x="0" y="4110760"/>
            <a:ext cx="5956300" cy="1100565"/>
          </a:xfrm>
          <a:solidFill>
            <a:schemeClr val="tx1">
              <a:alpha val="80000"/>
            </a:schemeClr>
          </a:solidFill>
        </p:spPr>
        <p:txBody>
          <a:bodyPr lIns="252000" tIns="180000" rIns="180000" bIns="180000"/>
          <a:lstStyle>
            <a:lvl1pPr marL="0" indent="0" algn="l">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a16="http://schemas.microsoft.com/office/drawing/2014/main" xmlns=""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xmlns=""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a16="http://schemas.microsoft.com/office/drawing/2014/main" xmlns=""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xmlns=""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xmlns=""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282858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Image Layout 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xmlns="" id="{890ED7CE-A9D2-4D19-B978-56BFB74E657C}"/>
              </a:ext>
            </a:extLst>
          </p:cNvPr>
          <p:cNvSpPr>
            <a:spLocks noGrp="1"/>
          </p:cNvSpPr>
          <p:nvPr>
            <p:ph type="pic" sz="quarter" idx="14" hasCustomPrompt="1"/>
          </p:nvPr>
        </p:nvSpPr>
        <p:spPr>
          <a:xfrm>
            <a:off x="609600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xmlns="" id="{40EE479C-D1F6-4BAC-80D2-90EF74E3261A}"/>
              </a:ext>
            </a:extLst>
          </p:cNvPr>
          <p:cNvSpPr>
            <a:spLocks noGrp="1"/>
          </p:cNvSpPr>
          <p:nvPr>
            <p:ph type="title" hasCustomPrompt="1"/>
          </p:nvPr>
        </p:nvSpPr>
        <p:spPr>
          <a:xfrm>
            <a:off x="7111800" y="3802899"/>
            <a:ext cx="4648200" cy="985000"/>
          </a:xfrm>
          <a:solidFill>
            <a:schemeClr val="bg1"/>
          </a:solidFill>
        </p:spPr>
        <p:txBody>
          <a:bodyPr lIns="180000" tIns="180000" rIns="180000" bIns="180000"/>
          <a:lstStyle>
            <a:lvl1pPr algn="r">
              <a:defRPr sz="6000" b="1" spc="-300">
                <a:solidFill>
                  <a:schemeClr val="tx1">
                    <a:lumMod val="75000"/>
                    <a:lumOff val="25000"/>
                  </a:schemeClr>
                </a:solidFill>
              </a:defRPr>
            </a:lvl1pPr>
          </a:lstStyle>
          <a:p>
            <a:r>
              <a:rPr lang="en-US" noProof="0"/>
              <a:t>Edit page title</a:t>
            </a:r>
          </a:p>
        </p:txBody>
      </p:sp>
      <p:sp>
        <p:nvSpPr>
          <p:cNvPr id="10" name="Subtitle 2">
            <a:extLst>
              <a:ext uri="{FF2B5EF4-FFF2-40B4-BE49-F238E27FC236}">
                <a16:creationId xmlns:a16="http://schemas.microsoft.com/office/drawing/2014/main" xmlns="" id="{3FAEED1D-0E66-4F74-9455-675F5CB7EAD4}"/>
              </a:ext>
            </a:extLst>
          </p:cNvPr>
          <p:cNvSpPr>
            <a:spLocks noGrp="1"/>
          </p:cNvSpPr>
          <p:nvPr>
            <p:ph type="body" sz="quarter" idx="32" hasCustomPrompt="1"/>
          </p:nvPr>
        </p:nvSpPr>
        <p:spPr>
          <a:xfrm>
            <a:off x="7111800" y="4787900"/>
            <a:ext cx="4648200" cy="1162800"/>
          </a:xfrm>
          <a:solidFill>
            <a:schemeClr val="tx1">
              <a:alpha val="80000"/>
            </a:schemeClr>
          </a:solidFill>
        </p:spPr>
        <p:txBody>
          <a:bodyPr lIns="180000" tIns="180000" rIns="180000" bIns="180000"/>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xmlns="" id="{A22238F2-C6EC-476F-8371-119AECBA5622}"/>
              </a:ext>
            </a:extLst>
          </p:cNvPr>
          <p:cNvSpPr>
            <a:spLocks noGrp="1"/>
          </p:cNvSpPr>
          <p:nvPr>
            <p:ph sz="half" idx="1"/>
          </p:nvPr>
        </p:nvSpPr>
        <p:spPr>
          <a:xfrm>
            <a:off x="432000" y="2668686"/>
            <a:ext cx="5472000" cy="2999426"/>
          </a:xfrm>
        </p:spPr>
        <p:txBody>
          <a:bodyPr anchor="b"/>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a16="http://schemas.microsoft.com/office/drawing/2014/main" xmlns=""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xmlns=""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a16="http://schemas.microsoft.com/office/drawing/2014/main" xmlns="" id="{1508F53F-6AA2-4060-904A-BC90211DC043}"/>
              </a:ext>
            </a:extLst>
          </p:cNvPr>
          <p:cNvSpPr/>
          <p:nvPr userDrawn="1"/>
        </p:nvSpPr>
        <p:spPr>
          <a:xfrm>
            <a:off x="9348588" y="3700775"/>
            <a:ext cx="2411412" cy="114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Image Layout 2">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xmlns="" id="{890ED7CE-A9D2-4D19-B978-56BFB74E657C}"/>
              </a:ext>
            </a:extLst>
          </p:cNvPr>
          <p:cNvSpPr>
            <a:spLocks noGrp="1"/>
          </p:cNvSpPr>
          <p:nvPr>
            <p:ph type="pic" sz="quarter" idx="14" hasCustomPrompt="1"/>
          </p:nvPr>
        </p:nvSpPr>
        <p:spPr>
          <a:xfrm>
            <a:off x="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xmlns="" id="{40EE479C-D1F6-4BAC-80D2-90EF74E3261A}"/>
              </a:ext>
            </a:extLst>
          </p:cNvPr>
          <p:cNvSpPr>
            <a:spLocks noGrp="1"/>
          </p:cNvSpPr>
          <p:nvPr>
            <p:ph type="title" hasCustomPrompt="1"/>
          </p:nvPr>
        </p:nvSpPr>
        <p:spPr>
          <a:xfrm>
            <a:off x="5118100" y="1869795"/>
            <a:ext cx="6641900" cy="1124345"/>
          </a:xfrm>
          <a:solidFill>
            <a:schemeClr val="bg1">
              <a:lumMod val="95000"/>
            </a:schemeClr>
          </a:solidFill>
        </p:spPr>
        <p:txBody>
          <a:bodyPr lIns="180000" tIns="180000" rIns="180000" bIns="180000"/>
          <a:lstStyle>
            <a:lvl1pPr algn="l">
              <a:defRPr sz="6000" b="1" spc="-300">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a16="http://schemas.microsoft.com/office/drawing/2014/main" xmlns="" id="{3FAEED1D-0E66-4F74-9455-675F5CB7EAD4}"/>
              </a:ext>
            </a:extLst>
          </p:cNvPr>
          <p:cNvSpPr>
            <a:spLocks noGrp="1"/>
          </p:cNvSpPr>
          <p:nvPr>
            <p:ph type="body" sz="quarter" idx="32" hasCustomPrompt="1"/>
          </p:nvPr>
        </p:nvSpPr>
        <p:spPr>
          <a:xfrm>
            <a:off x="5118334" y="2994141"/>
            <a:ext cx="6641626" cy="590155"/>
          </a:xfrm>
          <a:solidFill>
            <a:schemeClr val="tx1">
              <a:alpha val="80000"/>
            </a:schemeClr>
          </a:solidFill>
        </p:spPr>
        <p:txBody>
          <a:bodyPr lIns="180000" tIns="180000" rIns="180000" bIns="180000"/>
          <a:lstStyle>
            <a:lvl1pPr marL="0" indent="0" algn="l">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xmlns="" id="{A22238F2-C6EC-476F-8371-119AECBA5622}"/>
              </a:ext>
            </a:extLst>
          </p:cNvPr>
          <p:cNvSpPr>
            <a:spLocks noGrp="1"/>
          </p:cNvSpPr>
          <p:nvPr>
            <p:ph sz="half" idx="1"/>
          </p:nvPr>
        </p:nvSpPr>
        <p:spPr>
          <a:xfrm>
            <a:off x="6288000" y="3763648"/>
            <a:ext cx="5472000" cy="2428351"/>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a16="http://schemas.microsoft.com/office/drawing/2014/main" xmlns=""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xmlns=""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a16="http://schemas.microsoft.com/office/drawing/2014/main" xmlns="" id="{FA5285E0-8F27-49C4-AADF-92A3B72D41FD}"/>
              </a:ext>
            </a:extLst>
          </p:cNvPr>
          <p:cNvSpPr/>
          <p:nvPr userDrawn="1"/>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38438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288DD7-6DAF-436D-B04A-EBCCAA36917C}"/>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a16="http://schemas.microsoft.com/office/drawing/2014/main" xmlns="" id="{E4633398-8EC3-417B-BEA6-101D8F224678}"/>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mparison Left Placeholder 1">
            <a:extLst>
              <a:ext uri="{FF2B5EF4-FFF2-40B4-BE49-F238E27FC236}">
                <a16:creationId xmlns:a16="http://schemas.microsoft.com/office/drawing/2014/main" xmlns="" id="{9322B50D-6A7D-41C6-BA57-613BC231DF36}"/>
              </a:ext>
            </a:extLst>
          </p:cNvPr>
          <p:cNvSpPr>
            <a:spLocks noGrp="1"/>
          </p:cNvSpPr>
          <p:nvPr>
            <p:ph type="body" idx="1"/>
          </p:nvPr>
        </p:nvSpPr>
        <p:spPr>
          <a:xfrm>
            <a:off x="432000" y="2307689"/>
            <a:ext cx="5472000" cy="360000"/>
          </a:xfrm>
        </p:spPr>
        <p:txBody>
          <a:bodyPr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4" name="Content Placeholder 2">
            <a:extLst>
              <a:ext uri="{FF2B5EF4-FFF2-40B4-BE49-F238E27FC236}">
                <a16:creationId xmlns:a16="http://schemas.microsoft.com/office/drawing/2014/main" xmlns="" id="{9FD584DA-F775-47B8-A1D7-6556AD5FCBD2}"/>
              </a:ext>
            </a:extLst>
          </p:cNvPr>
          <p:cNvSpPr>
            <a:spLocks noGrp="1"/>
          </p:cNvSpPr>
          <p:nvPr>
            <p:ph sz="half" idx="2"/>
          </p:nvPr>
        </p:nvSpPr>
        <p:spPr>
          <a:xfrm>
            <a:off x="432000" y="2815037"/>
            <a:ext cx="5472000" cy="33769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2" name="Comparison Left Placeholder 2">
            <a:extLst>
              <a:ext uri="{FF2B5EF4-FFF2-40B4-BE49-F238E27FC236}">
                <a16:creationId xmlns:a16="http://schemas.microsoft.com/office/drawing/2014/main" xmlns="" id="{78A963F8-6F6E-440E-B3B3-DDE13C083A36}"/>
              </a:ext>
            </a:extLst>
          </p:cNvPr>
          <p:cNvSpPr>
            <a:spLocks noGrp="1"/>
          </p:cNvSpPr>
          <p:nvPr>
            <p:ph type="body" sz="quarter" idx="13"/>
          </p:nvPr>
        </p:nvSpPr>
        <p:spPr>
          <a:xfrm>
            <a:off x="6300000" y="2308214"/>
            <a:ext cx="5472000" cy="358775"/>
          </a:xfrm>
        </p:spPr>
        <p:txBody>
          <a:bodyPr/>
          <a:lstStyle>
            <a:lvl1pPr marL="0" indent="0">
              <a:buNone/>
              <a:defRPr sz="2400" b="1"/>
            </a:lvl1pPr>
          </a:lstStyle>
          <a:p>
            <a:pPr lvl="0"/>
            <a:r>
              <a:rPr lang="en-US" noProof="0" smtClean="0"/>
              <a:t>Click to edit Master text styles</a:t>
            </a:r>
          </a:p>
        </p:txBody>
      </p:sp>
      <p:sp>
        <p:nvSpPr>
          <p:cNvPr id="8" name="Text Placeholder 4">
            <a:extLst>
              <a:ext uri="{FF2B5EF4-FFF2-40B4-BE49-F238E27FC236}">
                <a16:creationId xmlns:a16="http://schemas.microsoft.com/office/drawing/2014/main" xmlns="" id="{DF0A5256-B267-47DA-858A-0F3867CB6139}"/>
              </a:ext>
            </a:extLst>
          </p:cNvPr>
          <p:cNvSpPr>
            <a:spLocks noGrp="1"/>
          </p:cNvSpPr>
          <p:nvPr>
            <p:ph type="body" sz="quarter" idx="12"/>
          </p:nvPr>
        </p:nvSpPr>
        <p:spPr>
          <a:xfrm>
            <a:off x="6299887" y="2812214"/>
            <a:ext cx="5472113" cy="3379036"/>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Footer Placeholder 4">
            <a:extLst>
              <a:ext uri="{FF2B5EF4-FFF2-40B4-BE49-F238E27FC236}">
                <a16:creationId xmlns:a16="http://schemas.microsoft.com/office/drawing/2014/main" xmlns=""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xmlns="" id="{18733E7E-50D2-4F6C-9DF2-CF4C98C4B847}"/>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0" name="Rectangle 9" descr="Accent block left">
            <a:extLst>
              <a:ext uri="{FF2B5EF4-FFF2-40B4-BE49-F238E27FC236}">
                <a16:creationId xmlns:a16="http://schemas.microsoft.com/office/drawing/2014/main" xmlns="" id="{BBC0CAF5-0DE6-4BEA-824E-124A54A76AC6}"/>
              </a:ext>
              <a:ext uri="{C183D7F6-B498-43B3-948B-1728B52AA6E4}">
                <adec:decorative xmlns:adec="http://schemas.microsoft.com/office/drawing/2017/decorative" xmlns="" val="1"/>
              </a:ext>
            </a:extLst>
          </p:cNvPr>
          <p:cNvSpPr/>
          <p:nvPr userDrawn="1"/>
        </p:nvSpPr>
        <p:spPr>
          <a:xfrm>
            <a:off x="431800" y="2100317"/>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1" name="Rectangle 10" descr="Accent bar right&#10;">
            <a:extLst>
              <a:ext uri="{FF2B5EF4-FFF2-40B4-BE49-F238E27FC236}">
                <a16:creationId xmlns:a16="http://schemas.microsoft.com/office/drawing/2014/main" xmlns="" id="{ED008080-B2F5-441A-8B15-30AE86BBF943}"/>
              </a:ext>
              <a:ext uri="{C183D7F6-B498-43B3-948B-1728B52AA6E4}">
                <adec:decorative xmlns:adec="http://schemas.microsoft.com/office/drawing/2017/decorative" xmlns="" val="1"/>
              </a:ext>
            </a:extLst>
          </p:cNvPr>
          <p:cNvSpPr/>
          <p:nvPr userDrawn="1"/>
        </p:nvSpPr>
        <p:spPr>
          <a:xfrm>
            <a:off x="6299887" y="2100317"/>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xmlns="" id="{890ED7CE-A9D2-4D19-B978-56BFB74E657C}"/>
              </a:ext>
            </a:extLst>
          </p:cNvPr>
          <p:cNvSpPr>
            <a:spLocks noGrp="1"/>
          </p:cNvSpPr>
          <p:nvPr>
            <p:ph type="pic" sz="quarter" idx="14" hasCustomPrompt="1"/>
          </p:nvPr>
        </p:nvSpPr>
        <p:spPr>
          <a:xfrm>
            <a:off x="0" y="1"/>
            <a:ext cx="12192000" cy="6371350"/>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3" name="Content Placeholder 2">
            <a:extLst>
              <a:ext uri="{FF2B5EF4-FFF2-40B4-BE49-F238E27FC236}">
                <a16:creationId xmlns:a16="http://schemas.microsoft.com/office/drawing/2014/main" xmlns="" id="{A22238F2-C6EC-476F-8371-119AECBA5622}"/>
              </a:ext>
            </a:extLst>
          </p:cNvPr>
          <p:cNvSpPr>
            <a:spLocks noGrp="1"/>
          </p:cNvSpPr>
          <p:nvPr>
            <p:ph sz="half" idx="1" hasCustomPrompt="1"/>
          </p:nvPr>
        </p:nvSpPr>
        <p:spPr>
          <a:xfrm>
            <a:off x="6096000" y="5359400"/>
            <a:ext cx="5664000" cy="565899"/>
          </a:xfrm>
          <a:solidFill>
            <a:schemeClr val="tx1"/>
          </a:solidFill>
        </p:spPr>
        <p:txBody>
          <a:bodyPr lIns="180000" tIns="180000" rIns="180000" bIns="180000" anchor="ctr"/>
          <a:lstStyle>
            <a:lvl1pPr marL="0" indent="0" algn="r">
              <a:buNone/>
              <a:defRPr>
                <a:solidFill>
                  <a:schemeClr val="bg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Enter your caption</a:t>
            </a:r>
          </a:p>
        </p:txBody>
      </p:sp>
      <p:sp>
        <p:nvSpPr>
          <p:cNvPr id="4" name="Footer Placeholder 3">
            <a:extLst>
              <a:ext uri="{FF2B5EF4-FFF2-40B4-BE49-F238E27FC236}">
                <a16:creationId xmlns:a16="http://schemas.microsoft.com/office/drawing/2014/main" xmlns=""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xmlns="" id="{8B3D119C-DBF5-4B4F-BE38-7BD7B5C8A5D0}"/>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5" name="Title 4">
            <a:extLst>
              <a:ext uri="{FF2B5EF4-FFF2-40B4-BE49-F238E27FC236}">
                <a16:creationId xmlns:a16="http://schemas.microsoft.com/office/drawing/2014/main" xmlns="" id="{7F8E7C83-06D7-4C5B-85B7-0E5713B4FAB3}"/>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xmlns="" id="{EB7F0EE8-BE52-4A79-8FC8-4A2487FA01FC}"/>
              </a:ext>
            </a:extLst>
          </p:cNvPr>
          <p:cNvSpPr>
            <a:spLocks noGrp="1"/>
          </p:cNvSpPr>
          <p:nvPr>
            <p:ph type="pic" sz="quarter" idx="10" hasCustomPrompt="1"/>
          </p:nvPr>
        </p:nvSpPr>
        <p:spPr>
          <a:xfrm>
            <a:off x="0" y="0"/>
            <a:ext cx="9780102" cy="6804025"/>
          </a:xfrm>
          <a:solidFill>
            <a:schemeClr val="bg1">
              <a:lumMod val="85000"/>
            </a:schemeClr>
          </a:solidFill>
        </p:spPr>
        <p:txBody>
          <a:bodyPr tIns="0"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a16="http://schemas.microsoft.com/office/drawing/2014/main" xmlns="" id="{00F23EB7-E336-46EB-A4A0-3DB7A6BF4CE1}"/>
              </a:ext>
            </a:extLst>
          </p:cNvPr>
          <p:cNvSpPr>
            <a:spLocks noGrp="1"/>
          </p:cNvSpPr>
          <p:nvPr>
            <p:ph type="ctrTitle" hasCustomPrompt="1"/>
          </p:nvPr>
        </p:nvSpPr>
        <p:spPr>
          <a:xfrm>
            <a:off x="8458200" y="2798354"/>
            <a:ext cx="3733800" cy="1013684"/>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Thank You</a:t>
            </a:r>
          </a:p>
        </p:txBody>
      </p:sp>
      <p:sp>
        <p:nvSpPr>
          <p:cNvPr id="9" name="Text Placeholder 5">
            <a:extLst>
              <a:ext uri="{FF2B5EF4-FFF2-40B4-BE49-F238E27FC236}">
                <a16:creationId xmlns:a16="http://schemas.microsoft.com/office/drawing/2014/main" xmlns="" id="{52FA7FC9-E40E-4144-84E4-34E3722E9A6D}"/>
              </a:ext>
            </a:extLst>
          </p:cNvPr>
          <p:cNvSpPr>
            <a:spLocks noGrp="1"/>
          </p:cNvSpPr>
          <p:nvPr>
            <p:ph type="body" sz="quarter" idx="15" hasCustomPrompt="1"/>
          </p:nvPr>
        </p:nvSpPr>
        <p:spPr>
          <a:xfrm>
            <a:off x="8458200" y="3957705"/>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Full Name</a:t>
            </a:r>
          </a:p>
        </p:txBody>
      </p:sp>
      <p:sp>
        <p:nvSpPr>
          <p:cNvPr id="10" name="Text Placeholder 6">
            <a:extLst>
              <a:ext uri="{FF2B5EF4-FFF2-40B4-BE49-F238E27FC236}">
                <a16:creationId xmlns:a16="http://schemas.microsoft.com/office/drawing/2014/main" xmlns="" id="{97289182-4FE6-4A18-9775-4588D5801CF6}"/>
              </a:ext>
            </a:extLst>
          </p:cNvPr>
          <p:cNvSpPr>
            <a:spLocks noGrp="1"/>
          </p:cNvSpPr>
          <p:nvPr>
            <p:ph type="body" sz="quarter" idx="16" hasCustomPrompt="1"/>
          </p:nvPr>
        </p:nvSpPr>
        <p:spPr>
          <a:xfrm>
            <a:off x="8458200" y="4306722"/>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 Number</a:t>
            </a:r>
          </a:p>
        </p:txBody>
      </p:sp>
      <p:sp>
        <p:nvSpPr>
          <p:cNvPr id="11" name="Text Placeholder 7">
            <a:extLst>
              <a:ext uri="{FF2B5EF4-FFF2-40B4-BE49-F238E27FC236}">
                <a16:creationId xmlns:a16="http://schemas.microsoft.com/office/drawing/2014/main" xmlns="" id="{BD4E94C7-6CAF-4FEE-9E02-D3D3A2AC5EAF}"/>
              </a:ext>
            </a:extLst>
          </p:cNvPr>
          <p:cNvSpPr>
            <a:spLocks noGrp="1"/>
          </p:cNvSpPr>
          <p:nvPr>
            <p:ph type="body" sz="quarter" idx="17" hasCustomPrompt="1"/>
          </p:nvPr>
        </p:nvSpPr>
        <p:spPr>
          <a:xfrm>
            <a:off x="8458200" y="4655739"/>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Email or Social Media Handle</a:t>
            </a:r>
          </a:p>
        </p:txBody>
      </p:sp>
      <p:sp>
        <p:nvSpPr>
          <p:cNvPr id="12" name="Text Placeholder 8">
            <a:extLst>
              <a:ext uri="{FF2B5EF4-FFF2-40B4-BE49-F238E27FC236}">
                <a16:creationId xmlns:a16="http://schemas.microsoft.com/office/drawing/2014/main" xmlns="" id="{0DE421A3-3C59-48FC-BC3B-007ADFBEB4FE}"/>
              </a:ext>
            </a:extLst>
          </p:cNvPr>
          <p:cNvSpPr>
            <a:spLocks noGrp="1"/>
          </p:cNvSpPr>
          <p:nvPr>
            <p:ph type="body" sz="quarter" idx="18" hasCustomPrompt="1"/>
          </p:nvPr>
        </p:nvSpPr>
        <p:spPr>
          <a:xfrm>
            <a:off x="8458200" y="5004756"/>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Company Website</a:t>
            </a:r>
          </a:p>
        </p:txBody>
      </p:sp>
      <p:sp>
        <p:nvSpPr>
          <p:cNvPr id="15" name="Rectangle 14">
            <a:extLst>
              <a:ext uri="{FF2B5EF4-FFF2-40B4-BE49-F238E27FC236}">
                <a16:creationId xmlns:a16="http://schemas.microsoft.com/office/drawing/2014/main" xmlns=""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xmlns=""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xmlns=""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xmlns="" id="{51DD44D8-4A8F-4693-B90A-166855B29D25}"/>
              </a:ext>
            </a:extLst>
          </p:cNvPr>
          <p:cNvSpPr/>
          <p:nvPr userDrawn="1"/>
        </p:nvSpPr>
        <p:spPr>
          <a:xfrm>
            <a:off x="8458200" y="2685912"/>
            <a:ext cx="3733800"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222FB6A7-1E80-487C-93E6-DCAA8751EF21}"/>
              </a:ext>
            </a:extLst>
          </p:cNvPr>
          <p:cNvSpPr>
            <a:spLocks noGrp="1"/>
          </p:cNvSpPr>
          <p:nvPr>
            <p:ph type="sldNum" sz="quarter" idx="20"/>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049663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a16="http://schemas.microsoft.com/office/drawing/2014/main" xmlns="" id="{E97A9A62-1AA6-47A9-A1A0-54196823744C}"/>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xmlns="" id="{B1948E38-8FB0-4E51-A01C-C88794372E50}"/>
              </a:ext>
            </a:extLst>
          </p:cNvPr>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a16="http://schemas.microsoft.com/office/drawing/2014/main" xmlns=""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xmlns=""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a16="http://schemas.microsoft.com/office/drawing/2014/main" xmlns="" id="{7DEBF36F-ADC5-48FF-BFAF-3BED06924FD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xmlns="" id="{A22238F2-C6EC-476F-8371-119AECBA5622}"/>
              </a:ext>
            </a:extLst>
          </p:cNvPr>
          <p:cNvSpPr>
            <a:spLocks noGrp="1"/>
          </p:cNvSpPr>
          <p:nvPr>
            <p:ph sz="half" idx="1"/>
          </p:nvPr>
        </p:nvSpPr>
        <p:spPr>
          <a:xfrm>
            <a:off x="432000" y="1512000"/>
            <a:ext cx="5472000" cy="468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Text Placeholder 4">
            <a:extLst>
              <a:ext uri="{FF2B5EF4-FFF2-40B4-BE49-F238E27FC236}">
                <a16:creationId xmlns:a16="http://schemas.microsoft.com/office/drawing/2014/main" xmlns="" id="{7867C73D-EE16-41D1-B7CE-A35C765E3B8D}"/>
              </a:ext>
            </a:extLst>
          </p:cNvPr>
          <p:cNvSpPr>
            <a:spLocks noGrp="1"/>
          </p:cNvSpPr>
          <p:nvPr>
            <p:ph type="body" sz="quarter" idx="12"/>
          </p:nvPr>
        </p:nvSpPr>
        <p:spPr>
          <a:xfrm>
            <a:off x="6299887" y="1511250"/>
            <a:ext cx="5472113" cy="468000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a16="http://schemas.microsoft.com/office/drawing/2014/main" xmlns=""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xmlns=""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a16="http://schemas.microsoft.com/office/drawing/2014/main" xmlns="" id="{F94EB5D3-F8CB-4E76-8D7E-FF441818EECB}"/>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xmlns="" id="{B1948E38-8FB0-4E51-A01C-C88794372E50}"/>
              </a:ext>
            </a:extLst>
          </p:cNvPr>
          <p:cNvSpPr>
            <a:spLocks noGrp="1"/>
          </p:cNvSpPr>
          <p:nvPr>
            <p:ph idx="1"/>
          </p:nvPr>
        </p:nvSpPr>
        <p:spPr>
          <a:xfrm>
            <a:off x="432000" y="1512000"/>
            <a:ext cx="360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a:extLst>
              <a:ext uri="{FF2B5EF4-FFF2-40B4-BE49-F238E27FC236}">
                <a16:creationId xmlns:a16="http://schemas.microsoft.com/office/drawing/2014/main" xmlns="" id="{16A38E24-EB1C-472F-B631-5DF32F9C4CF5}"/>
              </a:ext>
            </a:extLst>
          </p:cNvPr>
          <p:cNvSpPr>
            <a:spLocks noGrp="1"/>
          </p:cNvSpPr>
          <p:nvPr>
            <p:ph type="body" sz="quarter" idx="12"/>
          </p:nvPr>
        </p:nvSpPr>
        <p:spPr>
          <a:xfrm>
            <a:off x="4301550" y="1511476"/>
            <a:ext cx="3600450" cy="4679249"/>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1" name="Text Placeholder 5">
            <a:extLst>
              <a:ext uri="{FF2B5EF4-FFF2-40B4-BE49-F238E27FC236}">
                <a16:creationId xmlns:a16="http://schemas.microsoft.com/office/drawing/2014/main" xmlns="" id="{5B4A252E-78C9-4F76-98A4-A4B580AD072A}"/>
              </a:ext>
            </a:extLst>
          </p:cNvPr>
          <p:cNvSpPr>
            <a:spLocks noGrp="1"/>
          </p:cNvSpPr>
          <p:nvPr>
            <p:ph type="body" sz="quarter" idx="13"/>
          </p:nvPr>
        </p:nvSpPr>
        <p:spPr>
          <a:xfrm>
            <a:off x="8171550" y="1511475"/>
            <a:ext cx="3600450" cy="467925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a16="http://schemas.microsoft.com/office/drawing/2014/main" xmlns="" id="{6D4BCA97-F31B-451D-82F8-6E000DF2118A}"/>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xmlns="" id="{0817AAC4-A657-4D75-A527-0307AFF2B17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a16="http://schemas.microsoft.com/office/drawing/2014/main" xmlns="" id="{9D7ACCB5-9A86-4F46-89E2-B79F48C9EC1D}"/>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xmlns="" id="{B1948E38-8FB0-4E51-A01C-C88794372E50}"/>
              </a:ext>
            </a:extLst>
          </p:cNvPr>
          <p:cNvSpPr>
            <a:spLocks noGrp="1"/>
          </p:cNvSpPr>
          <p:nvPr>
            <p:ph idx="1"/>
          </p:nvPr>
        </p:nvSpPr>
        <p:spPr>
          <a:xfrm>
            <a:off x="432000" y="1512000"/>
            <a:ext cx="216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a:extLst>
              <a:ext uri="{FF2B5EF4-FFF2-40B4-BE49-F238E27FC236}">
                <a16:creationId xmlns:a16="http://schemas.microsoft.com/office/drawing/2014/main" xmlns="" id="{1F5B3657-F2AE-455A-BF81-1A0C2ACECD20}"/>
              </a:ext>
            </a:extLst>
          </p:cNvPr>
          <p:cNvSpPr>
            <a:spLocks noGrp="1"/>
          </p:cNvSpPr>
          <p:nvPr>
            <p:ph type="body" sz="quarter" idx="12"/>
          </p:nvPr>
        </p:nvSpPr>
        <p:spPr>
          <a:xfrm>
            <a:off x="2726412" y="1512000"/>
            <a:ext cx="2160588" cy="467925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5">
            <a:extLst>
              <a:ext uri="{FF2B5EF4-FFF2-40B4-BE49-F238E27FC236}">
                <a16:creationId xmlns:a16="http://schemas.microsoft.com/office/drawing/2014/main" xmlns="" id="{6A983D98-E0AB-429A-9EC2-B50D4216D691}"/>
              </a:ext>
            </a:extLst>
          </p:cNvPr>
          <p:cNvSpPr>
            <a:spLocks noGrp="1"/>
          </p:cNvSpPr>
          <p:nvPr>
            <p:ph type="body" sz="quarter" idx="13"/>
          </p:nvPr>
        </p:nvSpPr>
        <p:spPr>
          <a:xfrm>
            <a:off x="5021412" y="1512000"/>
            <a:ext cx="2160588" cy="467925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5" name="Text Placeholder 6">
            <a:extLst>
              <a:ext uri="{FF2B5EF4-FFF2-40B4-BE49-F238E27FC236}">
                <a16:creationId xmlns:a16="http://schemas.microsoft.com/office/drawing/2014/main" xmlns="" id="{755213BF-EF6D-45DC-A01B-DE6C2F23A6D2}"/>
              </a:ext>
            </a:extLst>
          </p:cNvPr>
          <p:cNvSpPr>
            <a:spLocks noGrp="1"/>
          </p:cNvSpPr>
          <p:nvPr>
            <p:ph type="body" sz="quarter" idx="14"/>
          </p:nvPr>
        </p:nvSpPr>
        <p:spPr>
          <a:xfrm>
            <a:off x="7316412" y="1507535"/>
            <a:ext cx="2160588" cy="467925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7" name="Text Placeholder 7">
            <a:extLst>
              <a:ext uri="{FF2B5EF4-FFF2-40B4-BE49-F238E27FC236}">
                <a16:creationId xmlns:a16="http://schemas.microsoft.com/office/drawing/2014/main" xmlns="" id="{77D6BBBA-F4A3-45D4-91BC-A405FFDC7C3D}"/>
              </a:ext>
            </a:extLst>
          </p:cNvPr>
          <p:cNvSpPr>
            <a:spLocks noGrp="1"/>
          </p:cNvSpPr>
          <p:nvPr>
            <p:ph type="body" sz="quarter" idx="15"/>
          </p:nvPr>
        </p:nvSpPr>
        <p:spPr>
          <a:xfrm>
            <a:off x="9611412" y="1507535"/>
            <a:ext cx="2160588" cy="4683715"/>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a16="http://schemas.microsoft.com/office/drawing/2014/main" xmlns="" id="{2D09234E-176D-4BBF-9391-7B6F018C51AB}"/>
              </a:ext>
            </a:extLst>
          </p:cNvPr>
          <p:cNvSpPr>
            <a:spLocks noGrp="1"/>
          </p:cNvSpPr>
          <p:nvPr>
            <p:ph type="ftr" sz="quarter" idx="16"/>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xmlns="" id="{009ABD5E-B8F1-4246-B167-09138760AD7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a16="http://schemas.microsoft.com/office/drawing/2014/main" xmlns=""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smtClean="0"/>
              <a:t>Click to edit Master subtitle style</a:t>
            </a:r>
            <a:endParaRPr lang="en-US" noProof="0"/>
          </a:p>
        </p:txBody>
      </p:sp>
      <p:sp>
        <p:nvSpPr>
          <p:cNvPr id="13" name="Rectangle 12">
            <a:extLst>
              <a:ext uri="{FF2B5EF4-FFF2-40B4-BE49-F238E27FC236}">
                <a16:creationId xmlns:a16="http://schemas.microsoft.com/office/drawing/2014/main" xmlns=""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xmlns=""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xmlns=""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xmlns=""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57760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4" name="Footer Placeholder 3">
            <a:extLst>
              <a:ext uri="{FF2B5EF4-FFF2-40B4-BE49-F238E27FC236}">
                <a16:creationId xmlns:a16="http://schemas.microsoft.com/office/drawing/2014/main" xmlns=""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xmlns=""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a16="http://schemas.microsoft.com/office/drawing/2014/main" xmlns=""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xmlns=""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xmlns=""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11" name="Text Placeholder 2">
            <a:extLst>
              <a:ext uri="{FF2B5EF4-FFF2-40B4-BE49-F238E27FC236}">
                <a16:creationId xmlns:a16="http://schemas.microsoft.com/office/drawing/2014/main" xmlns="" id="{14B95064-E6BF-43CD-ACBD-6363E8D9BF6A}"/>
              </a:ext>
            </a:extLst>
          </p:cNvPr>
          <p:cNvSpPr>
            <a:spLocks noGrp="1"/>
          </p:cNvSpPr>
          <p:nvPr>
            <p:ph type="body" idx="1"/>
          </p:nvPr>
        </p:nvSpPr>
        <p:spPr>
          <a:xfrm>
            <a:off x="0" y="4114627"/>
            <a:ext cx="5956300" cy="1095056"/>
          </a:xfrm>
          <a:solidFill>
            <a:schemeClr val="tx1">
              <a:alpha val="80000"/>
            </a:schemeClr>
          </a:solidFill>
        </p:spPr>
        <p:txBody>
          <a:bodyPr vert="horz" lIns="252000" tIns="180000" rIns="180000" bIns="180000" rtlCol="0">
            <a:noAutofit/>
          </a:bodyPr>
          <a:lstStyle>
            <a:lvl1pPr marL="0" indent="0" algn="l">
              <a:buNone/>
              <a:defRPr lang="en-US">
                <a:solidFill>
                  <a:schemeClr val="bg1"/>
                </a:solidFill>
              </a:defRPr>
            </a:lvl1pPr>
          </a:lstStyle>
          <a:p>
            <a:pPr marL="266700" lvl="0" indent="-266700"/>
            <a:r>
              <a:rPr lang="en-US" noProof="0" smtClean="0"/>
              <a:t>Click to edit Master text styles</a:t>
            </a:r>
          </a:p>
        </p:txBody>
      </p:sp>
    </p:spTree>
    <p:extLst>
      <p:ext uri="{BB962C8B-B14F-4D97-AF65-F5344CB8AC3E}">
        <p14:creationId xmlns:p14="http://schemas.microsoft.com/office/powerpoint/2010/main" val="3982563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3" name="Content Placeholder 2">
            <a:extLst>
              <a:ext uri="{FF2B5EF4-FFF2-40B4-BE49-F238E27FC236}">
                <a16:creationId xmlns:a16="http://schemas.microsoft.com/office/drawing/2014/main" xmlns="" id="{B1948E38-8FB0-4E51-A01C-C88794372E50}"/>
              </a:ext>
            </a:extLst>
          </p:cNvPr>
          <p:cNvSpPr>
            <a:spLocks noGrp="1"/>
          </p:cNvSpPr>
          <p:nvPr>
            <p:ph idx="1"/>
          </p:nvPr>
        </p:nvSpPr>
        <p:spPr>
          <a:xfrm>
            <a:off x="432000" y="1008000"/>
            <a:ext cx="11328000" cy="5183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a16="http://schemas.microsoft.com/office/drawing/2014/main" xmlns=""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xmlns=""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62075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xmlns=""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xmlns=""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9" name="Content Placeholder 3">
            <a:extLst>
              <a:ext uri="{FF2B5EF4-FFF2-40B4-BE49-F238E27FC236}">
                <a16:creationId xmlns:a16="http://schemas.microsoft.com/office/drawing/2014/main" xmlns="" id="{EE1E0B79-3CC8-4DCF-8AEC-AC43BC9A3048}"/>
              </a:ext>
            </a:extLst>
          </p:cNvPr>
          <p:cNvSpPr>
            <a:spLocks noGrp="1"/>
          </p:cNvSpPr>
          <p:nvPr>
            <p:ph sz="half" idx="2"/>
          </p:nvPr>
        </p:nvSpPr>
        <p:spPr>
          <a:xfrm>
            <a:off x="6311886" y="1007250"/>
            <a:ext cx="5460114" cy="5169713"/>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Content Placeholder 2">
            <a:extLst>
              <a:ext uri="{FF2B5EF4-FFF2-40B4-BE49-F238E27FC236}">
                <a16:creationId xmlns:a16="http://schemas.microsoft.com/office/drawing/2014/main" xmlns="" id="{15546508-E26C-46CD-8939-D20E71BF4ED7}"/>
              </a:ext>
            </a:extLst>
          </p:cNvPr>
          <p:cNvSpPr>
            <a:spLocks noGrp="1"/>
          </p:cNvSpPr>
          <p:nvPr>
            <p:ph sz="half" idx="1"/>
          </p:nvPr>
        </p:nvSpPr>
        <p:spPr>
          <a:xfrm>
            <a:off x="431999" y="1007250"/>
            <a:ext cx="5448115" cy="5169713"/>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6155533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xmlns=""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xmlns=""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xmlns="" id="{48A1A904-FE62-4BE3-BAE9-0EEAE7B1E38C}"/>
              </a:ext>
              <a:ext uri="{C183D7F6-B498-43B3-948B-1728B52AA6E4}">
                <adec:decorative xmlns:adec="http://schemas.microsoft.com/office/drawing/2017/decorative" xmlns="" val="1"/>
              </a:ext>
            </a:extLst>
          </p:cNvPr>
          <p:cNvSpPr/>
          <p:nvPr userDrawn="1"/>
        </p:nvSpPr>
        <p:spPr>
          <a:xfrm>
            <a:off x="431800" y="1016231"/>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2" name="Rectangle 11" descr="Accent bar right&#10;">
            <a:extLst>
              <a:ext uri="{FF2B5EF4-FFF2-40B4-BE49-F238E27FC236}">
                <a16:creationId xmlns:a16="http://schemas.microsoft.com/office/drawing/2014/main" xmlns="" id="{3E8A46E0-47C2-4441-B7DD-F621A80F1FC8}"/>
              </a:ext>
              <a:ext uri="{C183D7F6-B498-43B3-948B-1728B52AA6E4}">
                <adec:decorative xmlns:adec="http://schemas.microsoft.com/office/drawing/2017/decorative" xmlns="" val="1"/>
              </a:ext>
            </a:extLst>
          </p:cNvPr>
          <p:cNvSpPr/>
          <p:nvPr userDrawn="1"/>
        </p:nvSpPr>
        <p:spPr>
          <a:xfrm>
            <a:off x="6299887" y="1016231"/>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Text Placeholder 2">
            <a:extLst>
              <a:ext uri="{FF2B5EF4-FFF2-40B4-BE49-F238E27FC236}">
                <a16:creationId xmlns:a16="http://schemas.microsoft.com/office/drawing/2014/main" xmlns="" id="{D902C307-6561-4E11-9899-1F34830AE8AB}"/>
              </a:ext>
            </a:extLst>
          </p:cNvPr>
          <p:cNvSpPr>
            <a:spLocks noGrp="1"/>
          </p:cNvSpPr>
          <p:nvPr>
            <p:ph type="body" idx="1"/>
          </p:nvPr>
        </p:nvSpPr>
        <p:spPr>
          <a:xfrm>
            <a:off x="431800" y="1224128"/>
            <a:ext cx="5448115"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16" name="Text Placeholder 4">
            <a:extLst>
              <a:ext uri="{FF2B5EF4-FFF2-40B4-BE49-F238E27FC236}">
                <a16:creationId xmlns:a16="http://schemas.microsoft.com/office/drawing/2014/main" xmlns="" id="{CD73439B-6B1B-47C5-B2B0-409015FB3398}"/>
              </a:ext>
            </a:extLst>
          </p:cNvPr>
          <p:cNvSpPr>
            <a:spLocks noGrp="1"/>
          </p:cNvSpPr>
          <p:nvPr>
            <p:ph type="body" sz="quarter" idx="3"/>
          </p:nvPr>
        </p:nvSpPr>
        <p:spPr>
          <a:xfrm>
            <a:off x="6312086" y="1224128"/>
            <a:ext cx="5447914"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17" name="Content Placeholder 5">
            <a:extLst>
              <a:ext uri="{FF2B5EF4-FFF2-40B4-BE49-F238E27FC236}">
                <a16:creationId xmlns:a16="http://schemas.microsoft.com/office/drawing/2014/main" xmlns="" id="{12AC6878-44C6-4445-A225-70C0DC482EDF}"/>
              </a:ext>
            </a:extLst>
          </p:cNvPr>
          <p:cNvSpPr>
            <a:spLocks noGrp="1"/>
          </p:cNvSpPr>
          <p:nvPr>
            <p:ph sz="quarter" idx="4"/>
          </p:nvPr>
        </p:nvSpPr>
        <p:spPr>
          <a:xfrm>
            <a:off x="6299886" y="1955731"/>
            <a:ext cx="5447914" cy="4233932"/>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8" name="Content Placeholder 3">
            <a:extLst>
              <a:ext uri="{FF2B5EF4-FFF2-40B4-BE49-F238E27FC236}">
                <a16:creationId xmlns:a16="http://schemas.microsoft.com/office/drawing/2014/main" xmlns="" id="{6D675DA8-374F-4915-973A-53612A41FFC1}"/>
              </a:ext>
            </a:extLst>
          </p:cNvPr>
          <p:cNvSpPr>
            <a:spLocks noGrp="1"/>
          </p:cNvSpPr>
          <p:nvPr>
            <p:ph sz="half" idx="2"/>
          </p:nvPr>
        </p:nvSpPr>
        <p:spPr>
          <a:xfrm>
            <a:off x="431800" y="1943031"/>
            <a:ext cx="5447914" cy="4246632"/>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6253150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xmlns=""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xmlns=""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xmlns="" id="{48A1A904-FE62-4BE3-BAE9-0EEAE7B1E38C}"/>
              </a:ext>
              <a:ext uri="{C183D7F6-B498-43B3-948B-1728B52AA6E4}">
                <adec:decorative xmlns:adec="http://schemas.microsoft.com/office/drawing/2017/decorative" xmlns="" val="1"/>
              </a:ext>
            </a:extLst>
          </p:cNvPr>
          <p:cNvSpPr/>
          <p:nvPr userDrawn="1"/>
        </p:nvSpPr>
        <p:spPr>
          <a:xfrm>
            <a:off x="431800" y="1892926"/>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Content Placeholder 2">
            <a:extLst>
              <a:ext uri="{FF2B5EF4-FFF2-40B4-BE49-F238E27FC236}">
                <a16:creationId xmlns:a16="http://schemas.microsoft.com/office/drawing/2014/main" xmlns="" id="{85B68CA9-AC4C-4D15-9BA1-A9F1AC5606DA}"/>
              </a:ext>
            </a:extLst>
          </p:cNvPr>
          <p:cNvSpPr>
            <a:spLocks noGrp="1"/>
          </p:cNvSpPr>
          <p:nvPr>
            <p:ph idx="1"/>
          </p:nvPr>
        </p:nvSpPr>
        <p:spPr>
          <a:xfrm>
            <a:off x="4788816" y="432001"/>
            <a:ext cx="6971184" cy="5429050"/>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5" name="Text Placeholder 3">
            <a:extLst>
              <a:ext uri="{FF2B5EF4-FFF2-40B4-BE49-F238E27FC236}">
                <a16:creationId xmlns:a16="http://schemas.microsoft.com/office/drawing/2014/main" xmlns="" id="{29B24D8A-D8A5-4F57-A260-A4CF75FCB3BD}"/>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Tree>
    <p:extLst>
      <p:ext uri="{BB962C8B-B14F-4D97-AF65-F5344CB8AC3E}">
        <p14:creationId xmlns:p14="http://schemas.microsoft.com/office/powerpoint/2010/main" val="8014327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xmlns=""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xmlns=""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xmlns="" id="{48A1A904-FE62-4BE3-BAE9-0EEAE7B1E38C}"/>
              </a:ext>
              <a:ext uri="{C183D7F6-B498-43B3-948B-1728B52AA6E4}">
                <adec:decorative xmlns:adec="http://schemas.microsoft.com/office/drawing/2017/decorative" xmlns="" val="1"/>
              </a:ext>
            </a:extLst>
          </p:cNvPr>
          <p:cNvSpPr/>
          <p:nvPr userDrawn="1"/>
        </p:nvSpPr>
        <p:spPr>
          <a:xfrm>
            <a:off x="431800" y="1892926"/>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9" name="Text Placeholder 3">
            <a:extLst>
              <a:ext uri="{FF2B5EF4-FFF2-40B4-BE49-F238E27FC236}">
                <a16:creationId xmlns:a16="http://schemas.microsoft.com/office/drawing/2014/main" xmlns="" id="{3E50A411-2E68-4F4D-B4BC-62E87C633658}"/>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10" name="Picture Placeholder 2">
            <a:extLst>
              <a:ext uri="{FF2B5EF4-FFF2-40B4-BE49-F238E27FC236}">
                <a16:creationId xmlns:a16="http://schemas.microsoft.com/office/drawing/2014/main" xmlns="" id="{2FBF39A8-0BD5-48FD-9993-F595D4F727C1}"/>
              </a:ext>
            </a:extLst>
          </p:cNvPr>
          <p:cNvSpPr>
            <a:spLocks noGrp="1"/>
          </p:cNvSpPr>
          <p:nvPr>
            <p:ph type="pic" idx="1"/>
          </p:nvPr>
        </p:nvSpPr>
        <p:spPr>
          <a:xfrm>
            <a:off x="4788816" y="432001"/>
            <a:ext cx="6971184" cy="54290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Tree>
    <p:extLst>
      <p:ext uri="{BB962C8B-B14F-4D97-AF65-F5344CB8AC3E}">
        <p14:creationId xmlns:p14="http://schemas.microsoft.com/office/powerpoint/2010/main" val="2040633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C626A5-4FF6-42BD-858A-AE4B2C23A6BC}"/>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5" name="Subtitle 2">
            <a:extLst>
              <a:ext uri="{FF2B5EF4-FFF2-40B4-BE49-F238E27FC236}">
                <a16:creationId xmlns:a16="http://schemas.microsoft.com/office/drawing/2014/main" xmlns="" id="{10727B06-56A8-44A2-B6C2-9ED183D107F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a16="http://schemas.microsoft.com/office/drawing/2014/main" xmlns="" id="{08CCB8C2-B6A2-4C69-8D3A-57420A034BA4}"/>
              </a:ext>
            </a:extLst>
          </p:cNvPr>
          <p:cNvSpPr>
            <a:spLocks noGrp="1"/>
          </p:cNvSpPr>
          <p:nvPr>
            <p:ph type="ftr" sz="quarter" idx="12"/>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xmlns="" id="{853CF994-8B2C-443F-B695-7378DD360DAA}"/>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xmlns=""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a16="http://schemas.microsoft.com/office/drawing/2014/main" xmlns="" id="{90694D9D-C633-4D52-965E-E5BBD9883037}"/>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1139767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xmlns=""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a16="http://schemas.microsoft.com/office/drawing/2014/main" xmlns="" id="{90694D9D-C633-4D52-965E-E5BBD9883037}"/>
              </a:ext>
            </a:extLst>
          </p:cNvPr>
          <p:cNvSpPr>
            <a:spLocks noGrp="1"/>
          </p:cNvSpPr>
          <p:nvPr>
            <p:ph type="title"/>
          </p:nvPr>
        </p:nvSpPr>
        <p:spPr/>
        <p:txBody>
          <a:bodyPr/>
          <a:lstStyle/>
          <a:p>
            <a:r>
              <a:rPr lang="en-US" noProof="0" smtClean="0"/>
              <a:t>Click to edit Master title style</a:t>
            </a:r>
            <a:endParaRPr lang="en-US" noProof="0"/>
          </a:p>
        </p:txBody>
      </p:sp>
      <p:sp>
        <p:nvSpPr>
          <p:cNvPr id="6" name="Text Placeholder 5">
            <a:extLst>
              <a:ext uri="{FF2B5EF4-FFF2-40B4-BE49-F238E27FC236}">
                <a16:creationId xmlns:a16="http://schemas.microsoft.com/office/drawing/2014/main" xmlns="" id="{0DB3A426-6D4A-4D91-ACD6-A2C25BAE44E3}"/>
              </a:ext>
            </a:extLst>
          </p:cNvPr>
          <p:cNvSpPr>
            <a:spLocks noGrp="1"/>
          </p:cNvSpPr>
          <p:nvPr>
            <p:ph type="body" sz="quarter" idx="14"/>
          </p:nvPr>
        </p:nvSpPr>
        <p:spPr>
          <a:xfrm>
            <a:off x="1664370" y="2033588"/>
            <a:ext cx="8863262" cy="2790825"/>
          </a:xfrm>
        </p:spPr>
        <p:txBody>
          <a:bodyPr anchor="ctr"/>
          <a:lstStyle>
            <a:lvl1pPr marL="0" indent="0" algn="ctr">
              <a:buNone/>
              <a:defRPr sz="6000"/>
            </a:lvl1pPr>
            <a:lvl2pPr marL="266700" indent="0">
              <a:buNone/>
              <a:defRPr/>
            </a:lvl2pPr>
          </a:lstStyle>
          <a:p>
            <a:pPr lvl="0"/>
            <a:r>
              <a:rPr lang="en-US" noProof="0" smtClean="0"/>
              <a:t>Click to edit Master text styles</a:t>
            </a:r>
          </a:p>
        </p:txBody>
      </p:sp>
    </p:spTree>
    <p:extLst>
      <p:ext uri="{BB962C8B-B14F-4D97-AF65-F5344CB8AC3E}">
        <p14:creationId xmlns:p14="http://schemas.microsoft.com/office/powerpoint/2010/main" val="28772436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xmlns=""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3900433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3EB0D177-9AA4-42F4-9CD7-CD206217CA6D}"/>
              </a:ext>
            </a:extLst>
          </p:cNvPr>
          <p:cNvSpPr/>
          <p:nvPr userDrawn="1"/>
        </p:nvSpPr>
        <p:spPr>
          <a:xfrm>
            <a:off x="9780101" y="6371351"/>
            <a:ext cx="1979897" cy="431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ectangle 27">
            <a:extLst>
              <a:ext uri="{FF2B5EF4-FFF2-40B4-BE49-F238E27FC236}">
                <a16:creationId xmlns:a16="http://schemas.microsoft.com/office/drawing/2014/main" xmlns="" id="{C825DB53-D610-4A40-AFDC-EBC47DB613CE}"/>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Freeform: Shape 30">
            <a:extLst>
              <a:ext uri="{FF2B5EF4-FFF2-40B4-BE49-F238E27FC236}">
                <a16:creationId xmlns:a16="http://schemas.microsoft.com/office/drawing/2014/main" xmlns="" id="{C2B9A6A4-83D0-40B1-8B15-964C84BF0705}"/>
              </a:ext>
            </a:extLst>
          </p:cNvPr>
          <p:cNvSpPr/>
          <p:nvPr userDrawn="1"/>
        </p:nvSpPr>
        <p:spPr>
          <a:xfrm>
            <a:off x="0" y="6371351"/>
            <a:ext cx="9780102" cy="432000"/>
          </a:xfrm>
          <a:custGeom>
            <a:avLst/>
            <a:gdLst>
              <a:gd name="connsiteX0" fmla="*/ 0 w 9780102"/>
              <a:gd name="connsiteY0" fmla="*/ 0 h 432000"/>
              <a:gd name="connsiteX1" fmla="*/ 9780102 w 9780102"/>
              <a:gd name="connsiteY1" fmla="*/ 0 h 432000"/>
              <a:gd name="connsiteX2" fmla="*/ 9780102 w 9780102"/>
              <a:gd name="connsiteY2" fmla="*/ 432000 h 432000"/>
              <a:gd name="connsiteX3" fmla="*/ 0 w 9780102"/>
              <a:gd name="connsiteY3" fmla="*/ 432000 h 432000"/>
            </a:gdLst>
            <a:ahLst/>
            <a:cxnLst>
              <a:cxn ang="0">
                <a:pos x="connsiteX0" y="connsiteY0"/>
              </a:cxn>
              <a:cxn ang="0">
                <a:pos x="connsiteX1" y="connsiteY1"/>
              </a:cxn>
              <a:cxn ang="0">
                <a:pos x="connsiteX2" y="connsiteY2"/>
              </a:cxn>
              <a:cxn ang="0">
                <a:pos x="connsiteX3" y="connsiteY3"/>
              </a:cxn>
            </a:cxnLst>
            <a:rect l="l" t="t" r="r" b="b"/>
            <a:pathLst>
              <a:path w="9780102" h="432000">
                <a:moveTo>
                  <a:pt x="0" y="0"/>
                </a:moveTo>
                <a:lnTo>
                  <a:pt x="9780102" y="0"/>
                </a:lnTo>
                <a:lnTo>
                  <a:pt x="9780102" y="432000"/>
                </a:lnTo>
                <a:lnTo>
                  <a:pt x="0" y="432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a16="http://schemas.microsoft.com/office/drawing/2014/main" xmlns=""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r>
              <a:rPr lang="en-US" noProof="0"/>
              <a:t>Click to edit page title</a:t>
            </a:r>
          </a:p>
        </p:txBody>
      </p:sp>
      <p:sp>
        <p:nvSpPr>
          <p:cNvPr id="3" name="Text Placeholder 2">
            <a:extLst>
              <a:ext uri="{FF2B5EF4-FFF2-40B4-BE49-F238E27FC236}">
                <a16:creationId xmlns:a16="http://schemas.microsoft.com/office/drawing/2014/main" xmlns=""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Footer Placeholder 4">
            <a:extLst>
              <a:ext uri="{FF2B5EF4-FFF2-40B4-BE49-F238E27FC236}">
                <a16:creationId xmlns:a16="http://schemas.microsoft.com/office/drawing/2014/main" xmlns="" id="{58879C91-B77F-4273-9A27-A3535FB889DB}"/>
              </a:ext>
            </a:extLst>
          </p:cNvPr>
          <p:cNvSpPr>
            <a:spLocks noGrp="1"/>
          </p:cNvSpPr>
          <p:nvPr>
            <p:ph type="ftr" sz="quarter" idx="3"/>
          </p:nvPr>
        </p:nvSpPr>
        <p:spPr>
          <a:xfrm>
            <a:off x="432000" y="6439820"/>
            <a:ext cx="5664000" cy="29506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r>
              <a:rPr lang="en-US" noProof="0" dirty="0"/>
              <a:t>Add a footer</a:t>
            </a:r>
          </a:p>
        </p:txBody>
      </p:sp>
      <p:sp>
        <p:nvSpPr>
          <p:cNvPr id="6" name="Slide Number Placeholder 5">
            <a:extLst>
              <a:ext uri="{FF2B5EF4-FFF2-40B4-BE49-F238E27FC236}">
                <a16:creationId xmlns:a16="http://schemas.microsoft.com/office/drawing/2014/main" xmlns="" id="{5ECA3099-A94F-4C3E-BC29-780EDD38F722}"/>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fld id="{19B51A1E-902D-48AF-9020-955120F399B6}" type="slidenum">
              <a:rPr lang="en-US" noProof="0" smtClean="0"/>
              <a:pPr/>
              <a:t>‹#›</a:t>
            </a:fld>
            <a:endParaRPr lang="en-US" noProof="0" dirty="0"/>
          </a:p>
        </p:txBody>
      </p:sp>
      <p:sp>
        <p:nvSpPr>
          <p:cNvPr id="4" name="TextBox 3">
            <a:extLst>
              <a:ext uri="{FF2B5EF4-FFF2-40B4-BE49-F238E27FC236}">
                <a16:creationId xmlns:a16="http://schemas.microsoft.com/office/drawing/2014/main" xmlns="" id="{34FDC6F9-37F9-4E25-AECA-D307B8421C73}"/>
              </a:ext>
            </a:extLst>
          </p:cNvPr>
          <p:cNvSpPr txBox="1"/>
          <p:nvPr userDrawn="1"/>
        </p:nvSpPr>
        <p:spPr>
          <a:xfrm>
            <a:off x="10243100" y="6422491"/>
            <a:ext cx="1053900" cy="380860"/>
          </a:xfrm>
          <a:prstGeom prst="rect">
            <a:avLst/>
          </a:prstGeom>
          <a:noFill/>
        </p:spPr>
        <p:txBody>
          <a:bodyPr wrap="square" tIns="108000" bIns="0" rtlCol="0" anchor="ctr">
            <a:spAutoFit/>
          </a:bodyPr>
          <a:lstStyle/>
          <a:p>
            <a:pPr algn="r">
              <a:lnSpc>
                <a:spcPts val="1000"/>
              </a:lnSpc>
            </a:pPr>
            <a:r>
              <a:rPr lang="en-US" sz="2500" b="1" i="0" spc="-100" baseline="0" noProof="0" dirty="0">
                <a:solidFill>
                  <a:schemeClr val="accent1"/>
                </a:solidFill>
                <a:latin typeface="+mj-lt"/>
              </a:rPr>
              <a:t>TREY</a:t>
            </a:r>
            <a:r>
              <a:rPr lang="en-US" sz="1600" b="1" i="0" spc="-100" baseline="0" noProof="0" dirty="0">
                <a:solidFill>
                  <a:schemeClr val="accent1"/>
                </a:solidFill>
                <a:latin typeface="+mj-lt"/>
              </a:rPr>
              <a:t> </a:t>
            </a:r>
            <a:br>
              <a:rPr lang="en-US" sz="1600" b="1" i="0" spc="-100" baseline="0" noProof="0" dirty="0">
                <a:solidFill>
                  <a:schemeClr val="accent1"/>
                </a:solidFill>
                <a:latin typeface="+mj-lt"/>
              </a:rPr>
            </a:br>
            <a:r>
              <a:rPr lang="en-US" sz="1200" b="0" i="0" spc="140" baseline="0" noProof="0" dirty="0">
                <a:solidFill>
                  <a:schemeClr val="tx1">
                    <a:lumMod val="75000"/>
                    <a:lumOff val="25000"/>
                  </a:schemeClr>
                </a:solidFill>
                <a:latin typeface="+mj-lt"/>
              </a:rPr>
              <a:t>research</a:t>
            </a:r>
          </a:p>
        </p:txBody>
      </p:sp>
      <p:sp>
        <p:nvSpPr>
          <p:cNvPr id="9" name="Rectangle 8">
            <a:extLst>
              <a:ext uri="{FF2B5EF4-FFF2-40B4-BE49-F238E27FC236}">
                <a16:creationId xmlns:a16="http://schemas.microsoft.com/office/drawing/2014/main" xmlns="" id="{4BC39664-EB8B-4A32-915A-D4308F79277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xmlns="" id="{9B49670D-8F18-44A8-B217-67B412095C0D}"/>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xmlns="" id="{030FA059-EC32-4FFF-9673-48849B2FA43A}"/>
              </a:ext>
            </a:extLst>
          </p:cNvPr>
          <p:cNvCxnSpPr>
            <a:cxnSpLocks/>
          </p:cNvCxnSpPr>
          <p:nvPr userDrawn="1"/>
        </p:nvCxnSpPr>
        <p:spPr>
          <a:xfrm flipH="1">
            <a:off x="1" y="6371351"/>
            <a:ext cx="1219199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6" r:id="rId5"/>
    <p:sldLayoutId id="2147483659" r:id="rId6"/>
    <p:sldLayoutId id="2147483660" r:id="rId7"/>
    <p:sldLayoutId id="2147483664" r:id="rId8"/>
    <p:sldLayoutId id="2147483650" r:id="rId9"/>
    <p:sldLayoutId id="2147483652" r:id="rId10"/>
    <p:sldLayoutId id="2147483656" r:id="rId11"/>
    <p:sldLayoutId id="2147483657" r:id="rId12"/>
    <p:sldLayoutId id="2147483667" r:id="rId13"/>
    <p:sldLayoutId id="2147483668" r:id="rId14"/>
    <p:sldLayoutId id="2147483669" r:id="rId15"/>
    <p:sldLayoutId id="2147483670" r:id="rId16"/>
    <p:sldLayoutId id="2147483671" r:id="rId17"/>
    <p:sldLayoutId id="2147483673" r:id="rId18"/>
    <p:sldLayoutId id="2147483674" r:id="rId19"/>
    <p:sldLayoutId id="2147483654" r:id="rId20"/>
    <p:sldLayoutId id="2147483655" r:id="rId21"/>
    <p:sldLayoutId id="2147483675" r:id="rId22"/>
    <p:sldLayoutId id="2147483672" r:id="rId23"/>
  </p:sldLayoutIdLst>
  <p:hf hdr="0" dt="0"/>
  <p:txStyles>
    <p:title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043189" y="1326524"/>
            <a:ext cx="6349284" cy="2677656"/>
          </a:xfrm>
          <a:prstGeom prst="rect">
            <a:avLst/>
          </a:prstGeom>
          <a:noFill/>
        </p:spPr>
        <p:txBody>
          <a:bodyPr wrap="square" rtlCol="0">
            <a:spAutoFit/>
          </a:bodyPr>
          <a:lstStyle/>
          <a:p>
            <a:endParaRPr lang="en-SG" sz="2800" dirty="0"/>
          </a:p>
          <a:p>
            <a:r>
              <a:rPr lang="en-SG" sz="2800" b="1" dirty="0" smtClean="0"/>
              <a:t>Build a bridge using the material given to you. Bridge should be at least  6” long. </a:t>
            </a:r>
          </a:p>
          <a:p>
            <a:r>
              <a:rPr lang="en-SG" sz="2800" b="1" dirty="0" smtClean="0"/>
              <a:t>The bridge that can hold </a:t>
            </a:r>
            <a:r>
              <a:rPr lang="en-SG" sz="2800" b="1" dirty="0" smtClean="0"/>
              <a:t>the most weight</a:t>
            </a:r>
            <a:r>
              <a:rPr lang="en-SG" sz="2800" b="1" dirty="0"/>
              <a:t> </a:t>
            </a:r>
            <a:r>
              <a:rPr lang="en-SG" sz="2800" b="1" dirty="0" smtClean="0"/>
              <a:t>is </a:t>
            </a:r>
            <a:r>
              <a:rPr lang="en-SG" sz="2800" b="1" dirty="0"/>
              <a:t>the winner </a:t>
            </a:r>
            <a:endParaRPr lang="en-US" sz="2800" dirty="0"/>
          </a:p>
        </p:txBody>
      </p:sp>
      <p:sp>
        <p:nvSpPr>
          <p:cNvPr id="8" name="Rectangle 7"/>
          <p:cNvSpPr/>
          <p:nvPr/>
        </p:nvSpPr>
        <p:spPr>
          <a:xfrm>
            <a:off x="10045522" y="5460643"/>
            <a:ext cx="2392010" cy="707886"/>
          </a:xfrm>
          <a:prstGeom prst="rect">
            <a:avLst/>
          </a:prstGeom>
        </p:spPr>
        <p:txBody>
          <a:bodyPr wrap="square">
            <a:spAutoFit/>
          </a:bodyPr>
          <a:lstStyle/>
          <a:p>
            <a:r>
              <a:rPr lang="en-SG" sz="4000" b="1" dirty="0"/>
              <a:t>Activity 1</a:t>
            </a:r>
          </a:p>
        </p:txBody>
      </p:sp>
      <p:pic>
        <p:nvPicPr>
          <p:cNvPr id="10" name="Picture 9"/>
          <p:cNvPicPr>
            <a:picLocks noChangeAspect="1"/>
          </p:cNvPicPr>
          <p:nvPr/>
        </p:nvPicPr>
        <p:blipFill>
          <a:blip r:embed="rId2"/>
          <a:stretch>
            <a:fillRect/>
          </a:stretch>
        </p:blipFill>
        <p:spPr>
          <a:xfrm>
            <a:off x="7972023" y="2713034"/>
            <a:ext cx="3955222" cy="2152920"/>
          </a:xfrm>
          <a:prstGeom prst="rect">
            <a:avLst/>
          </a:prstGeom>
        </p:spPr>
      </p:pic>
    </p:spTree>
    <p:extLst>
      <p:ext uri="{BB962C8B-B14F-4D97-AF65-F5344CB8AC3E}">
        <p14:creationId xmlns:p14="http://schemas.microsoft.com/office/powerpoint/2010/main" val="432007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Hands coming together in circle">
            <a:extLst>
              <a:ext uri="{FF2B5EF4-FFF2-40B4-BE49-F238E27FC236}">
                <a16:creationId xmlns:a16="http://schemas.microsoft.com/office/drawing/2014/main" xmlns="" id="{AA8A1CBA-9BB5-2246-9F4B-98EAD7C90158}"/>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xmlns="" id="{200B3D2B-613A-41BE-987D-E6A1324B456D}"/>
              </a:ext>
            </a:extLst>
          </p:cNvPr>
          <p:cNvSpPr>
            <a:spLocks noGrp="1"/>
          </p:cNvSpPr>
          <p:nvPr>
            <p:ph type="ctrTitle"/>
          </p:nvPr>
        </p:nvSpPr>
        <p:spPr>
          <a:xfrm>
            <a:off x="3200400" y="2811053"/>
            <a:ext cx="8991600" cy="1261295"/>
          </a:xfrm>
        </p:spPr>
        <p:txBody>
          <a:bodyPr/>
          <a:lstStyle/>
          <a:p>
            <a:r>
              <a:rPr lang="en-US" dirty="0" smtClean="0"/>
              <a:t>Soft Skills for Teachers </a:t>
            </a:r>
            <a:endParaRPr lang="en-US" dirty="0"/>
          </a:p>
        </p:txBody>
      </p:sp>
      <p:sp>
        <p:nvSpPr>
          <p:cNvPr id="4" name="Subtitle 3">
            <a:extLst>
              <a:ext uri="{FF2B5EF4-FFF2-40B4-BE49-F238E27FC236}">
                <a16:creationId xmlns:a16="http://schemas.microsoft.com/office/drawing/2014/main" xmlns="" id="{4772945D-CA91-4CFE-8EB7-941C7618C994}"/>
              </a:ext>
            </a:extLst>
          </p:cNvPr>
          <p:cNvSpPr>
            <a:spLocks noGrp="1"/>
          </p:cNvSpPr>
          <p:nvPr>
            <p:ph type="subTitle" idx="1"/>
          </p:nvPr>
        </p:nvSpPr>
        <p:spPr>
          <a:xfrm>
            <a:off x="3200400" y="4061039"/>
            <a:ext cx="6580188" cy="580921"/>
          </a:xfrm>
        </p:spPr>
        <p:txBody>
          <a:bodyPr/>
          <a:lstStyle/>
          <a:p>
            <a:r>
              <a:rPr lang="en-US" sz="2800" dirty="0" smtClean="0"/>
              <a:t>Bachelors of Education (Hon.) English</a:t>
            </a:r>
            <a:r>
              <a:rPr lang="en-US" sz="3200" dirty="0" smtClean="0"/>
              <a:t> </a:t>
            </a:r>
            <a:endParaRPr lang="en-US" sz="3200" dirty="0"/>
          </a:p>
        </p:txBody>
      </p:sp>
    </p:spTree>
    <p:extLst>
      <p:ext uri="{BB962C8B-B14F-4D97-AF65-F5344CB8AC3E}">
        <p14:creationId xmlns:p14="http://schemas.microsoft.com/office/powerpoint/2010/main" val="3989923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Hand writing on post-it note">
            <a:extLst>
              <a:ext uri="{FF2B5EF4-FFF2-40B4-BE49-F238E27FC236}">
                <a16:creationId xmlns:a16="http://schemas.microsoft.com/office/drawing/2014/main" xmlns="" id="{7E468295-904F-0743-AD06-67DA21353B9E}"/>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a:stretch/>
        </p:blipFill>
        <p:spPr>
          <a:xfrm>
            <a:off x="0" y="-1"/>
            <a:ext cx="6096000" cy="6371351"/>
          </a:xfrm>
        </p:spPr>
      </p:pic>
      <p:sp>
        <p:nvSpPr>
          <p:cNvPr id="20" name="Rectangle 19">
            <a:extLst>
              <a:ext uri="{FF2B5EF4-FFF2-40B4-BE49-F238E27FC236}">
                <a16:creationId xmlns:a16="http://schemas.microsoft.com/office/drawing/2014/main" xmlns="" id="{EFA08948-2B6F-46B1-9D2D-8D7B2B3FBD56}"/>
              </a:ext>
              <a:ext uri="{C183D7F6-B498-43B3-948B-1728B52AA6E4}">
                <adec:decorative xmlns:adec="http://schemas.microsoft.com/office/drawing/2017/decorative" xmlns="" val="1"/>
              </a:ext>
            </a:extLst>
          </p:cNvPr>
          <p:cNvSpPr/>
          <p:nvPr/>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xmlns="" id="{3560F281-4FF6-4617-A809-AC9C15ECF18A}"/>
              </a:ext>
            </a:extLst>
          </p:cNvPr>
          <p:cNvSpPr>
            <a:spLocks noGrp="1"/>
          </p:cNvSpPr>
          <p:nvPr>
            <p:ph type="title"/>
          </p:nvPr>
        </p:nvSpPr>
        <p:spPr>
          <a:xfrm>
            <a:off x="5118100" y="1869795"/>
            <a:ext cx="6641900" cy="1124345"/>
          </a:xfrm>
        </p:spPr>
        <p:txBody>
          <a:bodyPr/>
          <a:lstStyle/>
          <a:p>
            <a:r>
              <a:rPr lang="en-US" dirty="0" smtClean="0"/>
              <a:t>Objectives </a:t>
            </a:r>
            <a:endParaRPr lang="en-US" dirty="0"/>
          </a:p>
        </p:txBody>
      </p:sp>
      <p:sp>
        <p:nvSpPr>
          <p:cNvPr id="4" name="Content Placeholder 3">
            <a:extLst>
              <a:ext uri="{FF2B5EF4-FFF2-40B4-BE49-F238E27FC236}">
                <a16:creationId xmlns:a16="http://schemas.microsoft.com/office/drawing/2014/main" xmlns="" id="{D355C61F-C8F1-4977-8E1F-F16C0D9EA88C}"/>
              </a:ext>
            </a:extLst>
          </p:cNvPr>
          <p:cNvSpPr>
            <a:spLocks noGrp="1"/>
          </p:cNvSpPr>
          <p:nvPr>
            <p:ph sz="half" idx="1"/>
          </p:nvPr>
        </p:nvSpPr>
        <p:spPr>
          <a:xfrm>
            <a:off x="6287999" y="3468569"/>
            <a:ext cx="5472000" cy="2428351"/>
          </a:xfrm>
        </p:spPr>
        <p:txBody>
          <a:bodyPr/>
          <a:lstStyle/>
          <a:p>
            <a:pPr marL="0" indent="0">
              <a:buNone/>
            </a:pPr>
            <a:r>
              <a:rPr lang="en-SG" sz="3200" dirty="0" smtClean="0"/>
              <a:t>Define, Identify and apply soft skills in personal and </a:t>
            </a:r>
            <a:r>
              <a:rPr lang="en-SG" sz="3200" dirty="0"/>
              <a:t>p</a:t>
            </a:r>
            <a:r>
              <a:rPr lang="en-SG" sz="3200" dirty="0" smtClean="0"/>
              <a:t>rofessional settings in order to excel as a professional educator</a:t>
            </a:r>
            <a:endParaRPr lang="en-US" sz="3200" dirty="0"/>
          </a:p>
        </p:txBody>
      </p:sp>
      <p:sp>
        <p:nvSpPr>
          <p:cNvPr id="6" name="Slide Number Placeholder 5">
            <a:extLst>
              <a:ext uri="{FF2B5EF4-FFF2-40B4-BE49-F238E27FC236}">
                <a16:creationId xmlns:a16="http://schemas.microsoft.com/office/drawing/2014/main" xmlns=""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3</a:t>
            </a:fld>
            <a:endParaRPr lang="en-US" dirty="0"/>
          </a:p>
        </p:txBody>
      </p:sp>
    </p:spTree>
    <p:extLst>
      <p:ext uri="{BB962C8B-B14F-4D97-AF65-F5344CB8AC3E}">
        <p14:creationId xmlns:p14="http://schemas.microsoft.com/office/powerpoint/2010/main" val="722098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Handing touching mobile phone">
            <a:extLst>
              <a:ext uri="{FF2B5EF4-FFF2-40B4-BE49-F238E27FC236}">
                <a16:creationId xmlns:a16="http://schemas.microsoft.com/office/drawing/2014/main" xmlns="" id="{A9A75888-22E3-1D43-9112-DA02186070B5}"/>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a:fillRect/>
          </a:stretch>
        </p:blipFill>
        <p:spPr/>
      </p:pic>
      <p:sp>
        <p:nvSpPr>
          <p:cNvPr id="20" name="Rectangle 19">
            <a:extLst>
              <a:ext uri="{FF2B5EF4-FFF2-40B4-BE49-F238E27FC236}">
                <a16:creationId xmlns:a16="http://schemas.microsoft.com/office/drawing/2014/main" xmlns="" id="{EFA08948-2B6F-46B1-9D2D-8D7B2B3FBD56}"/>
              </a:ext>
              <a:ext uri="{C183D7F6-B498-43B3-948B-1728B52AA6E4}">
                <adec:decorative xmlns:adec="http://schemas.microsoft.com/office/drawing/2017/decorative" xmlns="" val="1"/>
              </a:ext>
            </a:extLst>
          </p:cNvPr>
          <p:cNvSpPr/>
          <p:nvPr/>
        </p:nvSpPr>
        <p:spPr>
          <a:xfrm>
            <a:off x="9348588" y="3688075"/>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xmlns="" id="{3560F281-4FF6-4617-A809-AC9C15ECF18A}"/>
              </a:ext>
            </a:extLst>
          </p:cNvPr>
          <p:cNvSpPr>
            <a:spLocks noGrp="1"/>
          </p:cNvSpPr>
          <p:nvPr>
            <p:ph type="title"/>
          </p:nvPr>
        </p:nvSpPr>
        <p:spPr>
          <a:xfrm>
            <a:off x="7111800" y="3802899"/>
            <a:ext cx="4648200" cy="1735016"/>
          </a:xfrm>
        </p:spPr>
        <p:txBody>
          <a:bodyPr/>
          <a:lstStyle/>
          <a:p>
            <a:r>
              <a:rPr lang="en-US" dirty="0" smtClean="0"/>
              <a:t>Course Content </a:t>
            </a:r>
            <a:endParaRPr lang="en-US" dirty="0"/>
          </a:p>
        </p:txBody>
      </p:sp>
      <p:sp>
        <p:nvSpPr>
          <p:cNvPr id="6" name="Slide Number Placeholder 5">
            <a:extLst>
              <a:ext uri="{FF2B5EF4-FFF2-40B4-BE49-F238E27FC236}">
                <a16:creationId xmlns:a16="http://schemas.microsoft.com/office/drawing/2014/main" xmlns=""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4</a:t>
            </a:fld>
            <a:endParaRPr lang="en-US" dirty="0"/>
          </a:p>
        </p:txBody>
      </p:sp>
      <p:sp>
        <p:nvSpPr>
          <p:cNvPr id="7" name="Content Placeholder 6"/>
          <p:cNvSpPr>
            <a:spLocks noGrp="1"/>
          </p:cNvSpPr>
          <p:nvPr>
            <p:ph sz="half" idx="1"/>
          </p:nvPr>
        </p:nvSpPr>
        <p:spPr>
          <a:xfrm>
            <a:off x="1107582" y="875763"/>
            <a:ext cx="4796417" cy="4792349"/>
          </a:xfrm>
        </p:spPr>
        <p:txBody>
          <a:bodyPr/>
          <a:lstStyle/>
          <a:p>
            <a:pPr marL="0" indent="0" fontAlgn="t">
              <a:buNone/>
            </a:pPr>
            <a:r>
              <a:rPr lang="en-US" sz="2000" b="1" dirty="0" smtClean="0"/>
              <a:t>Module components</a:t>
            </a:r>
          </a:p>
          <a:p>
            <a:pPr marL="457200" indent="-457200" fontAlgn="t">
              <a:buAutoNum type="arabicPeriod"/>
            </a:pPr>
            <a:r>
              <a:rPr lang="en-US" sz="2000" b="1" dirty="0" smtClean="0"/>
              <a:t>Introduction </a:t>
            </a:r>
            <a:r>
              <a:rPr lang="en-US" sz="2000" b="1" dirty="0"/>
              <a:t>to soft skills</a:t>
            </a:r>
            <a:endParaRPr lang="en-US" sz="2000" dirty="0"/>
          </a:p>
          <a:p>
            <a:pPr marL="0" indent="0" fontAlgn="t">
              <a:buNone/>
            </a:pPr>
            <a:r>
              <a:rPr lang="en-US" sz="2000" b="1" dirty="0"/>
              <a:t>2. Communicating effectively with others</a:t>
            </a:r>
            <a:endParaRPr lang="en-US" sz="2000" dirty="0"/>
          </a:p>
          <a:p>
            <a:pPr marL="0" indent="0" fontAlgn="t">
              <a:buNone/>
            </a:pPr>
            <a:r>
              <a:rPr lang="en-US" sz="2000" b="1" dirty="0"/>
              <a:t>3. Working in teams</a:t>
            </a:r>
            <a:endParaRPr lang="en-US" sz="2000" dirty="0"/>
          </a:p>
          <a:p>
            <a:pPr marL="0" indent="0" fontAlgn="t">
              <a:buNone/>
            </a:pPr>
            <a:r>
              <a:rPr lang="en-US" sz="2000" b="1" dirty="0"/>
              <a:t>4. Flexibility and adaptability</a:t>
            </a:r>
            <a:endParaRPr lang="en-US" sz="2000" dirty="0"/>
          </a:p>
          <a:p>
            <a:pPr marL="0" indent="0" fontAlgn="t">
              <a:buNone/>
            </a:pPr>
            <a:r>
              <a:rPr lang="en-US" sz="2000" b="1" dirty="0"/>
              <a:t>5. Problem solving and creativity</a:t>
            </a:r>
            <a:endParaRPr lang="en-US" sz="2000" dirty="0"/>
          </a:p>
          <a:p>
            <a:pPr marL="0" indent="0" fontAlgn="t">
              <a:buNone/>
            </a:pPr>
            <a:r>
              <a:rPr lang="en-US" sz="2000" b="1" dirty="0"/>
              <a:t>6. Managing conflicts</a:t>
            </a:r>
            <a:endParaRPr lang="en-US" sz="2000" dirty="0"/>
          </a:p>
          <a:p>
            <a:pPr marL="0" indent="0" fontAlgn="t">
              <a:buNone/>
            </a:pPr>
            <a:r>
              <a:rPr lang="en-US" sz="2000" b="1" dirty="0"/>
              <a:t>7. Stress management</a:t>
            </a:r>
            <a:endParaRPr lang="en-US" sz="2000" dirty="0"/>
          </a:p>
          <a:p>
            <a:pPr marL="0" indent="0" fontAlgn="t">
              <a:buNone/>
            </a:pPr>
            <a:r>
              <a:rPr lang="en-US" sz="2000" b="1" dirty="0"/>
              <a:t>8. Anger management</a:t>
            </a:r>
            <a:endParaRPr lang="en-US" sz="2000" dirty="0"/>
          </a:p>
          <a:p>
            <a:pPr marL="0" indent="0" fontAlgn="t">
              <a:buNone/>
            </a:pPr>
            <a:r>
              <a:rPr lang="en-US" sz="2000" b="1" dirty="0"/>
              <a:t>9. Managing time</a:t>
            </a:r>
            <a:endParaRPr lang="en-US" sz="2000" dirty="0"/>
          </a:p>
          <a:p>
            <a:pPr marL="0" indent="0" fontAlgn="t">
              <a:buNone/>
            </a:pPr>
            <a:r>
              <a:rPr lang="en-US" sz="2000" b="1" dirty="0"/>
              <a:t>10. Self-motivation</a:t>
            </a:r>
            <a:endParaRPr lang="en-US" sz="2000" dirty="0"/>
          </a:p>
          <a:p>
            <a:endParaRPr lang="en-US" sz="2000" dirty="0"/>
          </a:p>
        </p:txBody>
      </p:sp>
    </p:spTree>
    <p:extLst>
      <p:ext uri="{BB962C8B-B14F-4D97-AF65-F5344CB8AC3E}">
        <p14:creationId xmlns:p14="http://schemas.microsoft.com/office/powerpoint/2010/main" val="1329746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xmlns="" id="{EFA08948-2B6F-46B1-9D2D-8D7B2B3FBD56}"/>
              </a:ext>
              <a:ext uri="{C183D7F6-B498-43B3-948B-1728B52AA6E4}">
                <adec:decorative xmlns:adec="http://schemas.microsoft.com/office/drawing/2017/decorative" xmlns="" val="1"/>
              </a:ext>
            </a:extLst>
          </p:cNvPr>
          <p:cNvSpPr/>
          <p:nvPr/>
        </p:nvSpPr>
        <p:spPr>
          <a:xfrm>
            <a:off x="9348588" y="3688075"/>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xmlns="" id="{3560F281-4FF6-4617-A809-AC9C15ECF18A}"/>
              </a:ext>
            </a:extLst>
          </p:cNvPr>
          <p:cNvSpPr>
            <a:spLocks noGrp="1"/>
          </p:cNvSpPr>
          <p:nvPr>
            <p:ph type="title"/>
          </p:nvPr>
        </p:nvSpPr>
        <p:spPr>
          <a:xfrm>
            <a:off x="7111800" y="3802899"/>
            <a:ext cx="4648200" cy="1735016"/>
          </a:xfrm>
        </p:spPr>
        <p:txBody>
          <a:bodyPr/>
          <a:lstStyle/>
          <a:p>
            <a:r>
              <a:rPr lang="en-US" dirty="0" smtClean="0"/>
              <a:t> Grading  </a:t>
            </a:r>
            <a:endParaRPr lang="en-US" dirty="0"/>
          </a:p>
        </p:txBody>
      </p:sp>
      <p:sp>
        <p:nvSpPr>
          <p:cNvPr id="6" name="Slide Number Placeholder 5">
            <a:extLst>
              <a:ext uri="{FF2B5EF4-FFF2-40B4-BE49-F238E27FC236}">
                <a16:creationId xmlns:a16="http://schemas.microsoft.com/office/drawing/2014/main" xmlns=""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5</a:t>
            </a:fld>
            <a:endParaRPr lang="en-US" dirty="0"/>
          </a:p>
        </p:txBody>
      </p:sp>
      <p:sp>
        <p:nvSpPr>
          <p:cNvPr id="7" name="Content Placeholder 6"/>
          <p:cNvSpPr>
            <a:spLocks noGrp="1"/>
          </p:cNvSpPr>
          <p:nvPr>
            <p:ph sz="half" idx="1"/>
          </p:nvPr>
        </p:nvSpPr>
        <p:spPr>
          <a:xfrm>
            <a:off x="1107582" y="875763"/>
            <a:ext cx="4796417" cy="4792349"/>
          </a:xfrm>
        </p:spPr>
        <p:txBody>
          <a:bodyPr/>
          <a:lstStyle/>
          <a:p>
            <a:pPr marL="457200" indent="-457200" fontAlgn="t">
              <a:buAutoNum type="arabicPeriod"/>
            </a:pPr>
            <a:endParaRPr lang="en-US" sz="2000" b="1" dirty="0" smtClean="0"/>
          </a:p>
          <a:p>
            <a:pPr marL="457200" indent="-457200" fontAlgn="t">
              <a:buAutoNum type="arabicPeriod"/>
            </a:pPr>
            <a:endParaRPr lang="en-US" sz="2000" b="1" dirty="0"/>
          </a:p>
          <a:p>
            <a:pPr marL="457200" indent="-457200" fontAlgn="t">
              <a:buAutoNum type="arabicPeriod"/>
            </a:pPr>
            <a:endParaRPr lang="en-US" sz="2000" b="1" dirty="0" smtClean="0"/>
          </a:p>
          <a:p>
            <a:pPr marL="457200" indent="-457200" fontAlgn="t">
              <a:buAutoNum type="arabicPeriod"/>
            </a:pPr>
            <a:endParaRPr lang="en-US" sz="2000" b="1" dirty="0"/>
          </a:p>
          <a:p>
            <a:pPr marL="0" indent="0" fontAlgn="t">
              <a:buNone/>
            </a:pPr>
            <a:r>
              <a:rPr lang="en-US" sz="2800" b="1" dirty="0"/>
              <a:t>F</a:t>
            </a:r>
            <a:r>
              <a:rPr lang="en-US" sz="2800" b="1" dirty="0" smtClean="0"/>
              <a:t>ormative Assessment = 30%</a:t>
            </a:r>
          </a:p>
          <a:p>
            <a:pPr marL="0" indent="0" fontAlgn="t">
              <a:buNone/>
            </a:pPr>
            <a:r>
              <a:rPr lang="en-US" sz="2000" b="1" dirty="0" smtClean="0"/>
              <a:t>CA 1 – 30</a:t>
            </a:r>
            <a:r>
              <a:rPr lang="en-US" sz="2000" b="1" baseline="30000" dirty="0" smtClean="0"/>
              <a:t>th</a:t>
            </a:r>
            <a:r>
              <a:rPr lang="en-US" sz="2000" b="1" dirty="0" smtClean="0"/>
              <a:t> April </a:t>
            </a:r>
          </a:p>
          <a:p>
            <a:pPr marL="0" indent="0" fontAlgn="t">
              <a:buNone/>
            </a:pPr>
            <a:r>
              <a:rPr lang="en-SG" sz="2000" b="1" dirty="0" smtClean="0"/>
              <a:t>CA 2 – 30</a:t>
            </a:r>
            <a:r>
              <a:rPr lang="en-SG" sz="2000" b="1" baseline="30000" dirty="0" smtClean="0"/>
              <a:t>th</a:t>
            </a:r>
            <a:r>
              <a:rPr lang="en-SG" sz="2000" b="1" dirty="0" smtClean="0"/>
              <a:t> May </a:t>
            </a:r>
          </a:p>
          <a:p>
            <a:pPr marL="0" indent="0" fontAlgn="t">
              <a:buNone/>
            </a:pPr>
            <a:r>
              <a:rPr lang="en-SG" sz="2000" b="1" dirty="0" smtClean="0"/>
              <a:t>Portfolio – last day of Module </a:t>
            </a:r>
          </a:p>
          <a:p>
            <a:pPr marL="0" indent="0" fontAlgn="t">
              <a:buNone/>
            </a:pPr>
            <a:r>
              <a:rPr lang="en-SG" sz="2000" b="1" dirty="0" smtClean="0"/>
              <a:t>	</a:t>
            </a:r>
          </a:p>
          <a:p>
            <a:pPr marL="0" indent="0" fontAlgn="t">
              <a:buNone/>
            </a:pPr>
            <a:r>
              <a:rPr lang="en-SG" sz="2800" b="1" dirty="0" smtClean="0"/>
              <a:t>Summative Assessments   = 70% </a:t>
            </a:r>
          </a:p>
          <a:p>
            <a:pPr marL="0" indent="0" fontAlgn="t">
              <a:buNone/>
            </a:pPr>
            <a:endParaRPr lang="en-SG" sz="2000" b="1" dirty="0"/>
          </a:p>
          <a:p>
            <a:pPr marL="0" indent="0" fontAlgn="t">
              <a:buNone/>
            </a:pPr>
            <a:endParaRPr lang="en-SG" sz="2000" b="1" dirty="0"/>
          </a:p>
          <a:p>
            <a:pPr marL="0" indent="0" fontAlgn="t">
              <a:buNone/>
            </a:pPr>
            <a:endParaRPr lang="en-SG" sz="2000" b="1" dirty="0" smtClean="0"/>
          </a:p>
          <a:p>
            <a:pPr marL="457200" indent="-457200" fontAlgn="t">
              <a:buAutoNum type="arabicPeriod"/>
            </a:pPr>
            <a:endParaRPr lang="en-US" sz="2000" dirty="0"/>
          </a:p>
        </p:txBody>
      </p:sp>
    </p:spTree>
    <p:extLst>
      <p:ext uri="{BB962C8B-B14F-4D97-AF65-F5344CB8AC3E}">
        <p14:creationId xmlns:p14="http://schemas.microsoft.com/office/powerpoint/2010/main" val="326815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Desk with computer, phone, books, etc.">
            <a:extLst>
              <a:ext uri="{FF2B5EF4-FFF2-40B4-BE49-F238E27FC236}">
                <a16:creationId xmlns:a16="http://schemas.microsoft.com/office/drawing/2014/main" xmlns="" id="{2E7ADBC3-DECA-9F4C-9289-9E43C727592F}"/>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xmlns="" id="{200B3D2B-613A-41BE-987D-E6A1324B456D}"/>
              </a:ext>
            </a:extLst>
          </p:cNvPr>
          <p:cNvSpPr>
            <a:spLocks noGrp="1"/>
          </p:cNvSpPr>
          <p:nvPr>
            <p:ph type="ctrTitle"/>
          </p:nvPr>
        </p:nvSpPr>
        <p:spPr/>
        <p:txBody>
          <a:bodyPr/>
          <a:lstStyle/>
          <a:p>
            <a:r>
              <a:rPr lang="en-US" sz="5400" dirty="0" smtClean="0"/>
              <a:t>Day One  -  Session 1</a:t>
            </a:r>
            <a:endParaRPr lang="en-US" sz="5400" dirty="0"/>
          </a:p>
        </p:txBody>
      </p:sp>
      <p:sp>
        <p:nvSpPr>
          <p:cNvPr id="14" name="Text Placeholder 13">
            <a:extLst>
              <a:ext uri="{FF2B5EF4-FFF2-40B4-BE49-F238E27FC236}">
                <a16:creationId xmlns:a16="http://schemas.microsoft.com/office/drawing/2014/main" xmlns="" id="{F278402B-CA7D-4F5B-B3FA-ED74AB3CFB6C}"/>
              </a:ext>
            </a:extLst>
          </p:cNvPr>
          <p:cNvSpPr>
            <a:spLocks noGrp="1"/>
          </p:cNvSpPr>
          <p:nvPr>
            <p:ph type="body" sz="quarter" idx="13"/>
          </p:nvPr>
        </p:nvSpPr>
        <p:spPr/>
        <p:txBody>
          <a:bodyPr/>
          <a:lstStyle/>
          <a:p>
            <a:r>
              <a:rPr lang="en-US" sz="4800" dirty="0" smtClean="0"/>
              <a:t>What are soft skills?</a:t>
            </a:r>
            <a:endParaRPr lang="en-US" sz="4800" dirty="0"/>
          </a:p>
        </p:txBody>
      </p:sp>
      <p:sp>
        <p:nvSpPr>
          <p:cNvPr id="5" name="Slide Number Placeholder 4">
            <a:extLst>
              <a:ext uri="{FF2B5EF4-FFF2-40B4-BE49-F238E27FC236}">
                <a16:creationId xmlns:a16="http://schemas.microsoft.com/office/drawing/2014/main" xmlns="" id="{BDD5A594-D852-43BB-B591-E9D9027253BD}"/>
              </a:ext>
            </a:extLst>
          </p:cNvPr>
          <p:cNvSpPr>
            <a:spLocks noGrp="1"/>
          </p:cNvSpPr>
          <p:nvPr>
            <p:ph type="sldNum" sz="quarter" idx="12"/>
          </p:nvPr>
        </p:nvSpPr>
        <p:spPr>
          <a:solidFill>
            <a:schemeClr val="tx1">
              <a:lumMod val="95000"/>
              <a:lumOff val="5000"/>
            </a:schemeClr>
          </a:solidFill>
        </p:spPr>
        <p:txBody>
          <a:bodyPr/>
          <a:lstStyle/>
          <a:p>
            <a:fld id="{19B51A1E-902D-48AF-9020-955120F399B6}" type="slidenum">
              <a:rPr lang="en-US" smtClean="0"/>
              <a:pPr/>
              <a:t>6</a:t>
            </a:fld>
            <a:endParaRPr lang="en-US" dirty="0"/>
          </a:p>
        </p:txBody>
      </p:sp>
    </p:spTree>
    <p:extLst>
      <p:ext uri="{BB962C8B-B14F-4D97-AF65-F5344CB8AC3E}">
        <p14:creationId xmlns:p14="http://schemas.microsoft.com/office/powerpoint/2010/main" val="4091674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xmlns="" id="{EFA08948-2B6F-46B1-9D2D-8D7B2B3FBD56}"/>
              </a:ext>
              <a:ext uri="{C183D7F6-B498-43B3-948B-1728B52AA6E4}">
                <adec:decorative xmlns:adec="http://schemas.microsoft.com/office/drawing/2017/decorative" xmlns="" val="1"/>
              </a:ext>
            </a:extLst>
          </p:cNvPr>
          <p:cNvSpPr/>
          <p:nvPr/>
        </p:nvSpPr>
        <p:spPr>
          <a:xfrm>
            <a:off x="9348588" y="3688075"/>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xmlns="" id="{3560F281-4FF6-4617-A809-AC9C15ECF18A}"/>
              </a:ext>
            </a:extLst>
          </p:cNvPr>
          <p:cNvSpPr>
            <a:spLocks noGrp="1"/>
          </p:cNvSpPr>
          <p:nvPr>
            <p:ph type="title"/>
          </p:nvPr>
        </p:nvSpPr>
        <p:spPr>
          <a:xfrm>
            <a:off x="7092539" y="3802899"/>
            <a:ext cx="4648200" cy="1735016"/>
          </a:xfrm>
        </p:spPr>
        <p:txBody>
          <a:bodyPr/>
          <a:lstStyle/>
          <a:p>
            <a:r>
              <a:rPr lang="en-US" dirty="0" smtClean="0"/>
              <a:t> Origin  </a:t>
            </a:r>
            <a:endParaRPr lang="en-US" dirty="0"/>
          </a:p>
        </p:txBody>
      </p:sp>
      <p:sp>
        <p:nvSpPr>
          <p:cNvPr id="6" name="Slide Number Placeholder 5">
            <a:extLst>
              <a:ext uri="{FF2B5EF4-FFF2-40B4-BE49-F238E27FC236}">
                <a16:creationId xmlns:a16="http://schemas.microsoft.com/office/drawing/2014/main" xmlns=""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7</a:t>
            </a:fld>
            <a:endParaRPr lang="en-US" dirty="0"/>
          </a:p>
        </p:txBody>
      </p:sp>
      <p:sp>
        <p:nvSpPr>
          <p:cNvPr id="7" name="Content Placeholder 6"/>
          <p:cNvSpPr>
            <a:spLocks noGrp="1"/>
          </p:cNvSpPr>
          <p:nvPr>
            <p:ph sz="half" idx="1"/>
          </p:nvPr>
        </p:nvSpPr>
        <p:spPr>
          <a:xfrm>
            <a:off x="1081825" y="573288"/>
            <a:ext cx="10470524" cy="3483557"/>
          </a:xfrm>
        </p:spPr>
        <p:txBody>
          <a:bodyPr/>
          <a:lstStyle/>
          <a:p>
            <a:pPr marL="457200" indent="-457200" fontAlgn="t">
              <a:buAutoNum type="arabicPeriod"/>
            </a:pPr>
            <a:endParaRPr lang="en-US" sz="2000" b="1" dirty="0" smtClean="0"/>
          </a:p>
          <a:p>
            <a:pPr marL="457200" indent="-457200" fontAlgn="t">
              <a:buAutoNum type="arabicPeriod"/>
            </a:pPr>
            <a:endParaRPr lang="en-US" sz="2000" b="1" dirty="0"/>
          </a:p>
          <a:p>
            <a:pPr marL="457200" indent="-457200" fontAlgn="t">
              <a:buAutoNum type="arabicPeriod"/>
            </a:pPr>
            <a:endParaRPr lang="en-US" sz="2000" b="1" dirty="0" smtClean="0"/>
          </a:p>
          <a:p>
            <a:pPr marL="457200" indent="-457200" fontAlgn="t">
              <a:buAutoNum type="arabicPeriod"/>
            </a:pPr>
            <a:endParaRPr lang="en-US" sz="2000" b="1" dirty="0"/>
          </a:p>
          <a:p>
            <a:pPr marL="0" indent="0" fontAlgn="t">
              <a:buNone/>
            </a:pPr>
            <a:r>
              <a:rPr lang="en-SG" sz="2000" dirty="0"/>
              <a:t>The concept of soft skills came to prominence in the 1970s when the U.S. Army began to focus on </a:t>
            </a:r>
            <a:r>
              <a:rPr lang="en-SG" sz="2000" dirty="0" smtClean="0"/>
              <a:t>them</a:t>
            </a:r>
          </a:p>
          <a:p>
            <a:pPr marL="0" indent="0" fontAlgn="t">
              <a:buNone/>
            </a:pPr>
            <a:endParaRPr lang="en-SG" sz="2000" dirty="0"/>
          </a:p>
          <a:p>
            <a:pPr marL="0" indent="0" fontAlgn="t">
              <a:buNone/>
            </a:pPr>
            <a:r>
              <a:rPr lang="en-SG" sz="2000" dirty="0"/>
              <a:t>Whitmore (1972, p. II-7) suggested a tentative definition of soft skills: “Soft-skills are (1) important job-related skills (2) which involve little or no interaction with machines </a:t>
            </a:r>
            <a:endParaRPr lang="en-SG" sz="2000" dirty="0" smtClean="0"/>
          </a:p>
          <a:p>
            <a:pPr marL="0" indent="0" fontAlgn="t">
              <a:buNone/>
            </a:pPr>
            <a:endParaRPr lang="en-SG" sz="2000" b="1" dirty="0"/>
          </a:p>
          <a:p>
            <a:pPr marL="0" indent="0" fontAlgn="t">
              <a:buNone/>
            </a:pPr>
            <a:endParaRPr lang="en-SG" sz="2000" b="1" dirty="0"/>
          </a:p>
          <a:p>
            <a:pPr marL="0" indent="0" fontAlgn="t">
              <a:buNone/>
            </a:pPr>
            <a:endParaRPr lang="en-SG" sz="2000" b="1" dirty="0" smtClean="0"/>
          </a:p>
          <a:p>
            <a:pPr marL="457200" indent="-457200" fontAlgn="t">
              <a:buAutoNum type="arabicPeriod"/>
            </a:pPr>
            <a:endParaRPr lang="en-US" sz="2000" dirty="0"/>
          </a:p>
        </p:txBody>
      </p:sp>
    </p:spTree>
    <p:extLst>
      <p:ext uri="{BB962C8B-B14F-4D97-AF65-F5344CB8AC3E}">
        <p14:creationId xmlns:p14="http://schemas.microsoft.com/office/powerpoint/2010/main" val="3097690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535031" y="1061240"/>
            <a:ext cx="11328000" cy="4679250"/>
          </a:xfrm>
        </p:spPr>
        <p:txBody>
          <a:bodyPr/>
          <a:lstStyle/>
          <a:p>
            <a:pPr marL="0" indent="0">
              <a:buNone/>
            </a:pPr>
            <a:r>
              <a:rPr lang="en-SG" dirty="0"/>
              <a:t>However, even today, half a century later, the terminology of soft skills is still not clear</a:t>
            </a:r>
            <a:r>
              <a:rPr lang="en-SG" dirty="0" smtClean="0"/>
              <a:t>;</a:t>
            </a:r>
          </a:p>
          <a:p>
            <a:pPr marL="0" indent="0">
              <a:buNone/>
            </a:pPr>
            <a:endParaRPr lang="en-SG" dirty="0" smtClean="0"/>
          </a:p>
          <a:p>
            <a:pPr marL="0" indent="0">
              <a:buNone/>
            </a:pPr>
            <a:r>
              <a:rPr lang="en-SG" dirty="0" err="1" smtClean="0"/>
              <a:t>Cimatti</a:t>
            </a:r>
            <a:r>
              <a:rPr lang="en-SG" dirty="0" smtClean="0"/>
              <a:t> </a:t>
            </a:r>
            <a:r>
              <a:rPr lang="en-SG" dirty="0"/>
              <a:t>(2016) documents that the </a:t>
            </a:r>
            <a:r>
              <a:rPr lang="en-SG" b="1" dirty="0">
                <a:solidFill>
                  <a:srgbClr val="FF0000"/>
                </a:solidFill>
              </a:rPr>
              <a:t>term soft skills is used to indicate all the competences that are not directly connected to a specific task</a:t>
            </a:r>
            <a:r>
              <a:rPr lang="en-SG" dirty="0"/>
              <a:t>, but they are necessary for any position </a:t>
            </a:r>
            <a:endParaRPr lang="en-SG" dirty="0" smtClean="0"/>
          </a:p>
          <a:p>
            <a:pPr marL="0" indent="0">
              <a:buNone/>
            </a:pPr>
            <a:r>
              <a:rPr lang="en-SG" dirty="0" err="1" smtClean="0"/>
              <a:t>Touloumakos</a:t>
            </a:r>
            <a:r>
              <a:rPr lang="en-SG" dirty="0" smtClean="0"/>
              <a:t> </a:t>
            </a:r>
            <a:r>
              <a:rPr lang="en-SG" dirty="0"/>
              <a:t>(2020) points out that </a:t>
            </a:r>
            <a:r>
              <a:rPr lang="en-SG" b="1" dirty="0">
                <a:solidFill>
                  <a:srgbClr val="FF0000"/>
                </a:solidFill>
              </a:rPr>
              <a:t>different people mean different things when referring to soft skills. The term soft skills has expanded to encompass a variety of qualities, traits, values, and </a:t>
            </a:r>
            <a:r>
              <a:rPr lang="en-SG" b="1" dirty="0" smtClean="0">
                <a:solidFill>
                  <a:srgbClr val="FF0000"/>
                </a:solidFill>
              </a:rPr>
              <a:t>attributes</a:t>
            </a:r>
          </a:p>
          <a:p>
            <a:pPr marL="0" indent="0">
              <a:buNone/>
            </a:pPr>
            <a:r>
              <a:rPr lang="en-SG" dirty="0"/>
              <a:t>Matteson et al. (2016) consider </a:t>
            </a:r>
            <a:r>
              <a:rPr lang="en-SG" b="1" dirty="0">
                <a:solidFill>
                  <a:srgbClr val="FF0000"/>
                </a:solidFill>
              </a:rPr>
              <a:t>soft skills as a collection of people management skills, important to many professions and job </a:t>
            </a:r>
            <a:r>
              <a:rPr lang="en-SG" b="1" dirty="0" smtClean="0">
                <a:solidFill>
                  <a:srgbClr val="FF0000"/>
                </a:solidFill>
              </a:rPr>
              <a:t>positions</a:t>
            </a:r>
          </a:p>
        </p:txBody>
      </p:sp>
      <p:sp>
        <p:nvSpPr>
          <p:cNvPr id="6" name="Footer Placeholder 5"/>
          <p:cNvSpPr>
            <a:spLocks noGrp="1"/>
          </p:cNvSpPr>
          <p:nvPr>
            <p:ph type="ftr" sz="quarter" idx="12"/>
          </p:nvPr>
        </p:nvSpPr>
        <p:spPr/>
        <p:txBody>
          <a:bodyPr/>
          <a:lstStyle/>
          <a:p>
            <a:r>
              <a:rPr lang="en-US" noProof="0" smtClean="0"/>
              <a:t>Add a footer</a:t>
            </a:r>
            <a:endParaRPr lang="en-US" noProof="0" dirty="0"/>
          </a:p>
        </p:txBody>
      </p:sp>
      <p:sp>
        <p:nvSpPr>
          <p:cNvPr id="7" name="Slide Number Placeholder 6"/>
          <p:cNvSpPr>
            <a:spLocks noGrp="1"/>
          </p:cNvSpPr>
          <p:nvPr>
            <p:ph type="sldNum" sz="quarter" idx="33"/>
          </p:nvPr>
        </p:nvSpPr>
        <p:spPr/>
        <p:txBody>
          <a:bodyPr/>
          <a:lstStyle/>
          <a:p>
            <a:fld id="{19B51A1E-902D-48AF-9020-955120F399B6}" type="slidenum">
              <a:rPr lang="en-US" noProof="0" smtClean="0"/>
              <a:pPr/>
              <a:t>8</a:t>
            </a:fld>
            <a:endParaRPr lang="en-US" noProof="0" dirty="0"/>
          </a:p>
        </p:txBody>
      </p:sp>
    </p:spTree>
    <p:extLst>
      <p:ext uri="{BB962C8B-B14F-4D97-AF65-F5344CB8AC3E}">
        <p14:creationId xmlns:p14="http://schemas.microsoft.com/office/powerpoint/2010/main" val="3951643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32"/>
          </p:nvPr>
        </p:nvSpPr>
        <p:spPr>
          <a:xfrm>
            <a:off x="431800" y="425003"/>
            <a:ext cx="11339513" cy="942997"/>
          </a:xfrm>
        </p:spPr>
        <p:txBody>
          <a:bodyPr/>
          <a:lstStyle/>
          <a:p>
            <a:r>
              <a:rPr lang="en-SG" dirty="0"/>
              <a:t> Brown and </a:t>
            </a:r>
            <a:r>
              <a:rPr lang="en-SG" dirty="0" err="1"/>
              <a:t>Luzmore</a:t>
            </a:r>
            <a:r>
              <a:rPr lang="en-SG" dirty="0"/>
              <a:t> (2023) identified over forty soft skills that </a:t>
            </a:r>
            <a:r>
              <a:rPr lang="en-SG" dirty="0" smtClean="0"/>
              <a:t>were considered </a:t>
            </a:r>
            <a:r>
              <a:rPr lang="en-SG" dirty="0"/>
              <a:t>important. </a:t>
            </a:r>
            <a:endParaRPr lang="en-US" dirty="0"/>
          </a:p>
        </p:txBody>
      </p:sp>
      <p:sp>
        <p:nvSpPr>
          <p:cNvPr id="4" name="Content Placeholder 3"/>
          <p:cNvSpPr>
            <a:spLocks noGrp="1"/>
          </p:cNvSpPr>
          <p:nvPr>
            <p:ph idx="1"/>
          </p:nvPr>
        </p:nvSpPr>
        <p:spPr>
          <a:xfrm>
            <a:off x="432000" y="1267299"/>
            <a:ext cx="3600000" cy="4679250"/>
          </a:xfrm>
        </p:spPr>
        <p:txBody>
          <a:bodyPr/>
          <a:lstStyle/>
          <a:p>
            <a:r>
              <a:rPr lang="en-SG" dirty="0"/>
              <a:t>1</a:t>
            </a:r>
            <a:r>
              <a:rPr lang="en-SG" sz="1600" dirty="0"/>
              <a:t>. Communication</a:t>
            </a:r>
          </a:p>
          <a:p>
            <a:r>
              <a:rPr lang="en-SG" sz="1600" dirty="0"/>
              <a:t>2. Collaboration</a:t>
            </a:r>
          </a:p>
          <a:p>
            <a:r>
              <a:rPr lang="en-SG" sz="1600" dirty="0"/>
              <a:t>3. Problem-solving</a:t>
            </a:r>
          </a:p>
          <a:p>
            <a:r>
              <a:rPr lang="en-SG" sz="1600" dirty="0"/>
              <a:t>4. Creativity and innovation</a:t>
            </a:r>
          </a:p>
          <a:p>
            <a:r>
              <a:rPr lang="en-SG" sz="1600" dirty="0" smtClean="0"/>
              <a:t>5</a:t>
            </a:r>
            <a:r>
              <a:rPr lang="en-SG" sz="1600" dirty="0"/>
              <a:t>. Critical thinking</a:t>
            </a:r>
          </a:p>
          <a:p>
            <a:r>
              <a:rPr lang="en-SG" sz="1600" dirty="0"/>
              <a:t>6. Leadership</a:t>
            </a:r>
          </a:p>
          <a:p>
            <a:r>
              <a:rPr lang="en-SG" sz="1600" dirty="0"/>
              <a:t>7. Flexibility/adaptability</a:t>
            </a:r>
          </a:p>
          <a:p>
            <a:r>
              <a:rPr lang="en-SG" sz="1600" dirty="0"/>
              <a:t>8. Social skills</a:t>
            </a:r>
          </a:p>
          <a:p>
            <a:r>
              <a:rPr lang="en-SG" sz="1600" dirty="0"/>
              <a:t>9. Self-regulation/self-awareness</a:t>
            </a:r>
          </a:p>
          <a:p>
            <a:r>
              <a:rPr lang="en-SG" sz="1600" dirty="0"/>
              <a:t>10. Analytical </a:t>
            </a:r>
            <a:r>
              <a:rPr lang="en-SG" sz="1600" dirty="0" smtClean="0"/>
              <a:t>skills</a:t>
            </a:r>
          </a:p>
          <a:p>
            <a:r>
              <a:rPr lang="en-SG" sz="1600" dirty="0"/>
              <a:t>11. Decision-making</a:t>
            </a:r>
          </a:p>
          <a:p>
            <a:r>
              <a:rPr lang="en-SG" sz="1600" dirty="0"/>
              <a:t>12. Integrity</a:t>
            </a:r>
          </a:p>
          <a:p>
            <a:r>
              <a:rPr lang="en-SG" sz="1600" dirty="0"/>
              <a:t>13. Managing learning</a:t>
            </a:r>
          </a:p>
          <a:p>
            <a:r>
              <a:rPr lang="en-SG" sz="1600" dirty="0"/>
              <a:t>14. Conflict management</a:t>
            </a:r>
          </a:p>
          <a:p>
            <a:endParaRPr lang="en-SG" sz="1600" dirty="0"/>
          </a:p>
        </p:txBody>
      </p:sp>
      <p:sp>
        <p:nvSpPr>
          <p:cNvPr id="3" name="Text Placeholder 2"/>
          <p:cNvSpPr>
            <a:spLocks noGrp="1"/>
          </p:cNvSpPr>
          <p:nvPr>
            <p:ph type="body" sz="quarter" idx="12"/>
          </p:nvPr>
        </p:nvSpPr>
        <p:spPr>
          <a:xfrm>
            <a:off x="3915177" y="1266775"/>
            <a:ext cx="3986823" cy="4679249"/>
          </a:xfrm>
        </p:spPr>
        <p:txBody>
          <a:bodyPr/>
          <a:lstStyle/>
          <a:p>
            <a:r>
              <a:rPr lang="en-SG" sz="1600" dirty="0" smtClean="0"/>
              <a:t>15</a:t>
            </a:r>
            <a:r>
              <a:rPr lang="en-SG" sz="1600" dirty="0"/>
              <a:t>. Managing responsibility</a:t>
            </a:r>
          </a:p>
          <a:p>
            <a:r>
              <a:rPr lang="en-SG" sz="1600" dirty="0"/>
              <a:t>16. Positive attitude</a:t>
            </a:r>
          </a:p>
          <a:p>
            <a:r>
              <a:rPr lang="en-SG" sz="1600" dirty="0"/>
              <a:t>17. Well-being/Stress management</a:t>
            </a:r>
          </a:p>
          <a:p>
            <a:r>
              <a:rPr lang="en-SG" sz="1600" dirty="0"/>
              <a:t>18. Identifying work goals/goal orientation</a:t>
            </a:r>
          </a:p>
          <a:p>
            <a:r>
              <a:rPr lang="en-SG" sz="1600" dirty="0"/>
              <a:t>19. Motivation</a:t>
            </a:r>
          </a:p>
          <a:p>
            <a:r>
              <a:rPr lang="en-SG" sz="1600" dirty="0"/>
              <a:t>20. Negotiating</a:t>
            </a:r>
          </a:p>
          <a:p>
            <a:r>
              <a:rPr lang="en-SG" sz="1600" dirty="0"/>
              <a:t>21. Cultural </a:t>
            </a:r>
            <a:r>
              <a:rPr lang="en-SG" sz="1600" dirty="0" smtClean="0"/>
              <a:t>awareness</a:t>
            </a:r>
          </a:p>
          <a:p>
            <a:r>
              <a:rPr lang="en-SG" sz="1600" dirty="0"/>
              <a:t>22. Empathy/understanding others’ needs</a:t>
            </a:r>
          </a:p>
          <a:p>
            <a:r>
              <a:rPr lang="en-SG" sz="1600" dirty="0"/>
              <a:t>23. Planning</a:t>
            </a:r>
          </a:p>
          <a:p>
            <a:r>
              <a:rPr lang="en-SG" sz="1600" dirty="0"/>
              <a:t>24. Conscientiousness</a:t>
            </a:r>
          </a:p>
          <a:p>
            <a:r>
              <a:rPr lang="en-SG" sz="1600" dirty="0"/>
              <a:t>25. Applying work protocols/values</a:t>
            </a:r>
          </a:p>
          <a:p>
            <a:r>
              <a:rPr lang="en-SG" sz="1600" dirty="0"/>
              <a:t>26. Social awareness</a:t>
            </a:r>
          </a:p>
          <a:p>
            <a:r>
              <a:rPr lang="en-SG" sz="1600" dirty="0"/>
              <a:t>27. Influence</a:t>
            </a:r>
          </a:p>
          <a:p>
            <a:r>
              <a:rPr lang="en-SG" sz="1600" dirty="0"/>
              <a:t>28. Initiative</a:t>
            </a:r>
          </a:p>
          <a:p>
            <a:endParaRPr lang="en-SG" sz="1600" dirty="0"/>
          </a:p>
          <a:p>
            <a:endParaRPr lang="en-US" sz="1600" dirty="0"/>
          </a:p>
        </p:txBody>
      </p:sp>
      <p:sp>
        <p:nvSpPr>
          <p:cNvPr id="8" name="Text Placeholder 7"/>
          <p:cNvSpPr>
            <a:spLocks noGrp="1"/>
          </p:cNvSpPr>
          <p:nvPr>
            <p:ph type="body" sz="quarter" idx="13"/>
          </p:nvPr>
        </p:nvSpPr>
        <p:spPr>
          <a:xfrm>
            <a:off x="8171550" y="1266774"/>
            <a:ext cx="3600450" cy="4679250"/>
          </a:xfrm>
        </p:spPr>
        <p:txBody>
          <a:bodyPr/>
          <a:lstStyle/>
          <a:p>
            <a:r>
              <a:rPr lang="en-SG" sz="1600" dirty="0" smtClean="0"/>
              <a:t>29</a:t>
            </a:r>
            <a:r>
              <a:rPr lang="en-SG" sz="1600" dirty="0"/>
              <a:t>. Time management</a:t>
            </a:r>
          </a:p>
          <a:p>
            <a:r>
              <a:rPr lang="en-SG" sz="1600" dirty="0"/>
              <a:t>30. Assertiveness</a:t>
            </a:r>
          </a:p>
          <a:p>
            <a:r>
              <a:rPr lang="en-SG" sz="1600" dirty="0"/>
              <a:t>31. Commitment</a:t>
            </a:r>
          </a:p>
          <a:p>
            <a:r>
              <a:rPr lang="en-SG" sz="1600" dirty="0"/>
              <a:t>32. Perseverance</a:t>
            </a:r>
          </a:p>
          <a:p>
            <a:r>
              <a:rPr lang="en-SG" sz="1600" dirty="0"/>
              <a:t>33. Resilience to criticism</a:t>
            </a:r>
          </a:p>
          <a:p>
            <a:r>
              <a:rPr lang="en-SG" sz="1600" dirty="0"/>
              <a:t>34. Competitiveness</a:t>
            </a:r>
          </a:p>
          <a:p>
            <a:r>
              <a:rPr lang="en-SG" sz="1600" dirty="0"/>
              <a:t>35. Curiosity</a:t>
            </a:r>
          </a:p>
          <a:p>
            <a:r>
              <a:rPr lang="en-SG" sz="1600" dirty="0"/>
              <a:t>36. Diplomacy</a:t>
            </a:r>
          </a:p>
          <a:p>
            <a:r>
              <a:rPr lang="en-SG" sz="1600" dirty="0"/>
              <a:t>37. Growth </a:t>
            </a:r>
            <a:r>
              <a:rPr lang="en-SG" sz="1600" dirty="0" err="1"/>
              <a:t>mindset</a:t>
            </a:r>
            <a:endParaRPr lang="en-SG" sz="1600" dirty="0"/>
          </a:p>
          <a:p>
            <a:r>
              <a:rPr lang="en-SG" sz="1600" dirty="0"/>
              <a:t>38. Image distortion</a:t>
            </a:r>
          </a:p>
          <a:p>
            <a:r>
              <a:rPr lang="en-SG" sz="1600" dirty="0"/>
              <a:t>39. Instilling trust</a:t>
            </a:r>
          </a:p>
          <a:p>
            <a:r>
              <a:rPr lang="en-SG" sz="1600" dirty="0"/>
              <a:t>40. Leisure orientation</a:t>
            </a:r>
          </a:p>
          <a:p>
            <a:r>
              <a:rPr lang="en-SG" sz="1600" dirty="0"/>
              <a:t>41. Logical thinking</a:t>
            </a:r>
          </a:p>
          <a:p>
            <a:r>
              <a:rPr lang="en-SG" sz="1600" dirty="0"/>
              <a:t>42. Mobility</a:t>
            </a:r>
            <a:endParaRPr lang="en-US" sz="1600" dirty="0"/>
          </a:p>
          <a:p>
            <a:endParaRPr lang="en-US" sz="1600" dirty="0"/>
          </a:p>
        </p:txBody>
      </p:sp>
      <p:sp>
        <p:nvSpPr>
          <p:cNvPr id="5" name="Footer Placeholder 4"/>
          <p:cNvSpPr>
            <a:spLocks noGrp="1"/>
          </p:cNvSpPr>
          <p:nvPr>
            <p:ph type="ftr" sz="quarter" idx="14"/>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15"/>
          </p:nvPr>
        </p:nvSpPr>
        <p:spPr/>
        <p:txBody>
          <a:bodyPr/>
          <a:lstStyle/>
          <a:p>
            <a:fld id="{19B51A1E-902D-48AF-9020-955120F399B6}" type="slidenum">
              <a:rPr lang="en-US" noProof="0" smtClean="0"/>
              <a:pPr/>
              <a:t>9</a:t>
            </a:fld>
            <a:endParaRPr lang="en-US" noProof="0" dirty="0"/>
          </a:p>
        </p:txBody>
      </p:sp>
    </p:spTree>
    <p:extLst>
      <p:ext uri="{BB962C8B-B14F-4D97-AF65-F5344CB8AC3E}">
        <p14:creationId xmlns:p14="http://schemas.microsoft.com/office/powerpoint/2010/main" val="3812671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32"/>
          </p:nvPr>
        </p:nvSpPr>
        <p:spPr>
          <a:xfrm>
            <a:off x="431800" y="502276"/>
            <a:ext cx="11339513" cy="865724"/>
          </a:xfrm>
        </p:spPr>
        <p:txBody>
          <a:bodyPr/>
          <a:lstStyle/>
          <a:p>
            <a:r>
              <a:rPr lang="en-SG" dirty="0"/>
              <a:t>The analysis of contemporary academic and non-academic sources, focusing on </a:t>
            </a:r>
            <a:r>
              <a:rPr lang="en-SG" dirty="0" smtClean="0"/>
              <a:t>the  most </a:t>
            </a:r>
            <a:r>
              <a:rPr lang="en-SG" dirty="0"/>
              <a:t>important soft skills for a successful professional and personal life in </a:t>
            </a:r>
            <a:r>
              <a:rPr lang="en-SG" dirty="0" smtClean="0"/>
              <a:t>the twenty-first </a:t>
            </a:r>
            <a:r>
              <a:rPr lang="en-SG" dirty="0"/>
              <a:t>century, revealed three key findings:</a:t>
            </a:r>
            <a:endParaRPr lang="en-US" dirty="0"/>
          </a:p>
        </p:txBody>
      </p:sp>
      <p:sp>
        <p:nvSpPr>
          <p:cNvPr id="4" name="Content Placeholder 3"/>
          <p:cNvSpPr>
            <a:spLocks noGrp="1"/>
          </p:cNvSpPr>
          <p:nvPr>
            <p:ph idx="1"/>
          </p:nvPr>
        </p:nvSpPr>
        <p:spPr/>
        <p:txBody>
          <a:bodyPr/>
          <a:lstStyle/>
          <a:p>
            <a:r>
              <a:rPr lang="en-SG" dirty="0"/>
              <a:t>1. Soft skills are an important prerequisite for a sustainable and </a:t>
            </a:r>
            <a:r>
              <a:rPr lang="en-SG" dirty="0" smtClean="0"/>
              <a:t>prosperous  working </a:t>
            </a:r>
            <a:r>
              <a:rPr lang="en-SG" dirty="0"/>
              <a:t>life.</a:t>
            </a:r>
          </a:p>
          <a:p>
            <a:r>
              <a:rPr lang="en-SG" dirty="0"/>
              <a:t>2. There is strong agreement between academics and practitioners (non-academics</a:t>
            </a:r>
            <a:r>
              <a:rPr lang="en-SG" dirty="0" smtClean="0"/>
              <a:t>)  about </a:t>
            </a:r>
            <a:r>
              <a:rPr lang="en-SG" dirty="0"/>
              <a:t>which ten or so soft skills are most important in the twenty-first century.</a:t>
            </a:r>
          </a:p>
          <a:p>
            <a:r>
              <a:rPr lang="en-SG" dirty="0"/>
              <a:t>3. Neither the overall concept of soft skills itself nor individual soft skills have </a:t>
            </a:r>
            <a:r>
              <a:rPr lang="en-SG" dirty="0" smtClean="0"/>
              <a:t>a  single</a:t>
            </a:r>
            <a:r>
              <a:rPr lang="en-SG" dirty="0"/>
              <a:t>, established definition. Similarly, there is no single categorization </a:t>
            </a:r>
            <a:r>
              <a:rPr lang="en-SG" dirty="0" smtClean="0"/>
              <a:t>or hierarchical </a:t>
            </a:r>
            <a:r>
              <a:rPr lang="en-SG" dirty="0"/>
              <a:t>model of soft skills</a:t>
            </a:r>
            <a:endParaRPr lang="en-US" dirty="0"/>
          </a:p>
        </p:txBody>
      </p:sp>
      <p:sp>
        <p:nvSpPr>
          <p:cNvPr id="5" name="Footer Placeholder 4"/>
          <p:cNvSpPr>
            <a:spLocks noGrp="1"/>
          </p:cNvSpPr>
          <p:nvPr>
            <p:ph type="ftr" sz="quarter" idx="12"/>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33"/>
          </p:nvPr>
        </p:nvSpPr>
        <p:spPr/>
        <p:txBody>
          <a:bodyPr/>
          <a:lstStyle/>
          <a:p>
            <a:fld id="{19B51A1E-902D-48AF-9020-955120F399B6}" type="slidenum">
              <a:rPr lang="en-US" noProof="0" smtClean="0"/>
              <a:pPr/>
              <a:t>10</a:t>
            </a:fld>
            <a:endParaRPr lang="en-US" noProof="0" dirty="0"/>
          </a:p>
        </p:txBody>
      </p:sp>
    </p:spTree>
    <p:extLst>
      <p:ext uri="{BB962C8B-B14F-4D97-AF65-F5344CB8AC3E}">
        <p14:creationId xmlns:p14="http://schemas.microsoft.com/office/powerpoint/2010/main" val="236396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32"/>
          </p:nvPr>
        </p:nvSpPr>
        <p:spPr>
          <a:xfrm>
            <a:off x="431800" y="463639"/>
            <a:ext cx="11339513" cy="904361"/>
          </a:xfrm>
        </p:spPr>
        <p:txBody>
          <a:bodyPr/>
          <a:lstStyle/>
          <a:p>
            <a:r>
              <a:rPr lang="en-SG" dirty="0"/>
              <a:t>Since 2010, six </a:t>
            </a:r>
            <a:r>
              <a:rPr lang="en-SG" dirty="0" smtClean="0"/>
              <a:t>global institutions</a:t>
            </a:r>
            <a:r>
              <a:rPr lang="en-SG" dirty="0"/>
              <a:t>, International Labour Organization (ILO), Organisation for </a:t>
            </a:r>
            <a:r>
              <a:rPr lang="en-SG" dirty="0" smtClean="0"/>
              <a:t>Economic Co-operation </a:t>
            </a:r>
            <a:r>
              <a:rPr lang="en-SG" dirty="0"/>
              <a:t>and Development (OECD), United Nations Children’s </a:t>
            </a:r>
            <a:r>
              <a:rPr lang="en-SG" dirty="0" smtClean="0"/>
              <a:t>Fund  (</a:t>
            </a:r>
            <a:r>
              <a:rPr lang="en-SG" dirty="0"/>
              <a:t>UNICEF), World Bank, World Economic Forum (WEF), and World Trade Organization (WTO), have focused a great deal of attention on the topic of soft </a:t>
            </a:r>
            <a:r>
              <a:rPr lang="en-SG" dirty="0" smtClean="0"/>
              <a:t>skills</a:t>
            </a:r>
            <a:endParaRPr lang="en-US" dirty="0"/>
          </a:p>
        </p:txBody>
      </p:sp>
      <p:pic>
        <p:nvPicPr>
          <p:cNvPr id="7" name="Content Placeholder 6"/>
          <p:cNvPicPr>
            <a:picLocks noGrp="1" noChangeAspect="1"/>
          </p:cNvPicPr>
          <p:nvPr>
            <p:ph idx="1"/>
          </p:nvPr>
        </p:nvPicPr>
        <p:blipFill rotWithShape="1">
          <a:blip r:embed="rId2"/>
          <a:srcRect l="40665" t="27700" r="20191" b="35424"/>
          <a:stretch/>
        </p:blipFill>
        <p:spPr>
          <a:xfrm>
            <a:off x="1056068" y="1606312"/>
            <a:ext cx="8461420" cy="4481582"/>
          </a:xfrm>
          <a:prstGeom prst="rect">
            <a:avLst/>
          </a:prstGeom>
        </p:spPr>
      </p:pic>
      <p:sp>
        <p:nvSpPr>
          <p:cNvPr id="5" name="Footer Placeholder 4"/>
          <p:cNvSpPr>
            <a:spLocks noGrp="1"/>
          </p:cNvSpPr>
          <p:nvPr>
            <p:ph type="ftr" sz="quarter" idx="12"/>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33"/>
          </p:nvPr>
        </p:nvSpPr>
        <p:spPr/>
        <p:txBody>
          <a:bodyPr/>
          <a:lstStyle/>
          <a:p>
            <a:fld id="{19B51A1E-902D-48AF-9020-955120F399B6}" type="slidenum">
              <a:rPr lang="en-US" noProof="0" smtClean="0"/>
              <a:pPr/>
              <a:t>11</a:t>
            </a:fld>
            <a:endParaRPr lang="en-US" noProof="0" dirty="0"/>
          </a:p>
        </p:txBody>
      </p:sp>
      <p:sp>
        <p:nvSpPr>
          <p:cNvPr id="8" name="Rectangle 7"/>
          <p:cNvSpPr/>
          <p:nvPr/>
        </p:nvSpPr>
        <p:spPr>
          <a:xfrm>
            <a:off x="9762186" y="1906073"/>
            <a:ext cx="1751527" cy="2717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2400" b="1" dirty="0" smtClean="0">
                <a:solidFill>
                  <a:schemeClr val="tx1"/>
                </a:solidFill>
              </a:rPr>
              <a:t>REFLECT :</a:t>
            </a:r>
          </a:p>
          <a:p>
            <a:pPr algn="ctr"/>
            <a:r>
              <a:rPr lang="en-SG" sz="2400" b="1" dirty="0" smtClean="0">
                <a:solidFill>
                  <a:schemeClr val="tx1"/>
                </a:solidFill>
              </a:rPr>
              <a:t>How many of these did you use in Activity </a:t>
            </a:r>
            <a:r>
              <a:rPr lang="en-SG" sz="2400" dirty="0" smtClean="0">
                <a:solidFill>
                  <a:schemeClr val="tx1"/>
                </a:solidFill>
              </a:rPr>
              <a:t>1 </a:t>
            </a:r>
            <a:endParaRPr lang="en-US" sz="2400" dirty="0">
              <a:solidFill>
                <a:schemeClr val="tx1"/>
              </a:solidFill>
            </a:endParaRPr>
          </a:p>
        </p:txBody>
      </p:sp>
    </p:spTree>
    <p:extLst>
      <p:ext uri="{BB962C8B-B14F-4D97-AF65-F5344CB8AC3E}">
        <p14:creationId xmlns:p14="http://schemas.microsoft.com/office/powerpoint/2010/main" val="336828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xmlns="" id="{EFA08948-2B6F-46B1-9D2D-8D7B2B3FBD56}"/>
              </a:ext>
              <a:ext uri="{C183D7F6-B498-43B3-948B-1728B52AA6E4}">
                <adec:decorative xmlns:adec="http://schemas.microsoft.com/office/drawing/2017/decorative" xmlns="" val="1"/>
              </a:ext>
            </a:extLst>
          </p:cNvPr>
          <p:cNvSpPr/>
          <p:nvPr/>
        </p:nvSpPr>
        <p:spPr>
          <a:xfrm>
            <a:off x="9348588" y="3688075"/>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xmlns="" id="{3560F281-4FF6-4617-A809-AC9C15ECF18A}"/>
              </a:ext>
            </a:extLst>
          </p:cNvPr>
          <p:cNvSpPr>
            <a:spLocks noGrp="1"/>
          </p:cNvSpPr>
          <p:nvPr>
            <p:ph type="title"/>
          </p:nvPr>
        </p:nvSpPr>
        <p:spPr>
          <a:xfrm>
            <a:off x="1262130" y="3802899"/>
            <a:ext cx="10478609" cy="1735016"/>
          </a:xfrm>
        </p:spPr>
        <p:txBody>
          <a:bodyPr/>
          <a:lstStyle/>
          <a:p>
            <a:r>
              <a:rPr lang="en-US" dirty="0" smtClean="0"/>
              <a:t>Categorization of 21</a:t>
            </a:r>
            <a:r>
              <a:rPr lang="en-US" baseline="30000" dirty="0" smtClean="0"/>
              <a:t>st</a:t>
            </a:r>
            <a:r>
              <a:rPr lang="en-US" dirty="0" smtClean="0"/>
              <a:t> century skills </a:t>
            </a:r>
            <a:endParaRPr lang="en-US" dirty="0"/>
          </a:p>
        </p:txBody>
      </p:sp>
      <p:sp>
        <p:nvSpPr>
          <p:cNvPr id="6" name="Slide Number Placeholder 5">
            <a:extLst>
              <a:ext uri="{FF2B5EF4-FFF2-40B4-BE49-F238E27FC236}">
                <a16:creationId xmlns:a16="http://schemas.microsoft.com/office/drawing/2014/main" xmlns=""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12</a:t>
            </a:fld>
            <a:endParaRPr lang="en-US" dirty="0"/>
          </a:p>
        </p:txBody>
      </p:sp>
      <p:sp>
        <p:nvSpPr>
          <p:cNvPr id="7" name="Content Placeholder 6"/>
          <p:cNvSpPr>
            <a:spLocks noGrp="1"/>
          </p:cNvSpPr>
          <p:nvPr>
            <p:ph sz="half" idx="1"/>
          </p:nvPr>
        </p:nvSpPr>
        <p:spPr>
          <a:xfrm>
            <a:off x="1081825" y="573288"/>
            <a:ext cx="10470524" cy="3483557"/>
          </a:xfrm>
        </p:spPr>
        <p:txBody>
          <a:bodyPr/>
          <a:lstStyle/>
          <a:p>
            <a:pPr marL="457200" indent="-457200" fontAlgn="t">
              <a:buAutoNum type="arabicPeriod"/>
            </a:pPr>
            <a:endParaRPr lang="en-US" sz="2000" b="1" dirty="0" smtClean="0"/>
          </a:p>
          <a:p>
            <a:pPr marL="457200" indent="-457200" fontAlgn="t">
              <a:buAutoNum type="arabicPeriod"/>
            </a:pPr>
            <a:endParaRPr lang="en-US" sz="2000" b="1" dirty="0"/>
          </a:p>
          <a:p>
            <a:pPr marL="457200" indent="-457200" fontAlgn="t">
              <a:buAutoNum type="arabicPeriod"/>
            </a:pPr>
            <a:endParaRPr lang="en-US" sz="2000" b="1" dirty="0" smtClean="0"/>
          </a:p>
          <a:p>
            <a:pPr marL="457200" indent="-457200" fontAlgn="t">
              <a:buAutoNum type="arabicPeriod"/>
            </a:pPr>
            <a:endParaRPr lang="en-US" sz="2000" b="1" dirty="0"/>
          </a:p>
          <a:p>
            <a:pPr marL="0" indent="0" fontAlgn="t">
              <a:buNone/>
            </a:pPr>
            <a:endParaRPr lang="en-SG" sz="2000" b="1" dirty="0"/>
          </a:p>
          <a:p>
            <a:pPr marL="0" indent="0" fontAlgn="t">
              <a:buNone/>
            </a:pPr>
            <a:endParaRPr lang="en-SG" sz="2000" b="1" dirty="0"/>
          </a:p>
          <a:p>
            <a:pPr marL="0" indent="0" fontAlgn="t">
              <a:buNone/>
            </a:pPr>
            <a:endParaRPr lang="en-SG" sz="2000" b="1" dirty="0" smtClean="0"/>
          </a:p>
          <a:p>
            <a:pPr marL="457200" indent="-457200" fontAlgn="t">
              <a:buAutoNum type="arabicPeriod"/>
            </a:pPr>
            <a:endParaRPr lang="en-US" sz="2000" dirty="0"/>
          </a:p>
        </p:txBody>
      </p:sp>
    </p:spTree>
    <p:extLst>
      <p:ext uri="{BB962C8B-B14F-4D97-AF65-F5344CB8AC3E}">
        <p14:creationId xmlns:p14="http://schemas.microsoft.com/office/powerpoint/2010/main" val="2802263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rotWithShape="1">
          <a:blip r:embed="rId2"/>
          <a:srcRect l="52151" t="37013" r="28226" b="15613"/>
          <a:stretch/>
        </p:blipFill>
        <p:spPr>
          <a:xfrm>
            <a:off x="746975" y="293601"/>
            <a:ext cx="4855335" cy="6092354"/>
          </a:xfrm>
          <a:prstGeom prst="rect">
            <a:avLst/>
          </a:prstGeom>
        </p:spPr>
      </p:pic>
      <p:sp>
        <p:nvSpPr>
          <p:cNvPr id="5" name="Footer Placeholder 4"/>
          <p:cNvSpPr>
            <a:spLocks noGrp="1"/>
          </p:cNvSpPr>
          <p:nvPr>
            <p:ph type="ftr" sz="quarter" idx="12"/>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33"/>
          </p:nvPr>
        </p:nvSpPr>
        <p:spPr/>
        <p:txBody>
          <a:bodyPr/>
          <a:lstStyle/>
          <a:p>
            <a:fld id="{19B51A1E-902D-48AF-9020-955120F399B6}" type="slidenum">
              <a:rPr lang="en-US" noProof="0" smtClean="0"/>
              <a:pPr/>
              <a:t>13</a:t>
            </a:fld>
            <a:endParaRPr lang="en-US" noProof="0" dirty="0"/>
          </a:p>
        </p:txBody>
      </p:sp>
      <p:sp>
        <p:nvSpPr>
          <p:cNvPr id="8" name="Text Placeholder 2"/>
          <p:cNvSpPr>
            <a:spLocks noGrp="1"/>
          </p:cNvSpPr>
          <p:nvPr>
            <p:ph type="body" sz="quarter" idx="32"/>
          </p:nvPr>
        </p:nvSpPr>
        <p:spPr>
          <a:xfrm>
            <a:off x="5686805" y="1581109"/>
            <a:ext cx="5988699" cy="5276891"/>
          </a:xfrm>
        </p:spPr>
        <p:txBody>
          <a:bodyPr/>
          <a:lstStyle/>
          <a:p>
            <a:r>
              <a:rPr lang="en-SG" sz="1600" b="1" dirty="0"/>
              <a:t>Intrinsic Skills: </a:t>
            </a:r>
            <a:r>
              <a:rPr lang="en-SG" sz="1600" dirty="0"/>
              <a:t>Roots The roots anchor the tree into the ground and provide essential nutrients. They represent the intrinsic skills – foundational personal attributes. Just as roots provide stability and sustenance to a tree, intrinsic skills are what ground us and drive our core </a:t>
            </a:r>
            <a:r>
              <a:rPr lang="en-SG" sz="1600" dirty="0" err="1"/>
              <a:t>behaviors</a:t>
            </a:r>
            <a:r>
              <a:rPr lang="en-SG" sz="1600" dirty="0"/>
              <a:t>. </a:t>
            </a:r>
            <a:endParaRPr lang="en-SG" sz="1600" dirty="0" smtClean="0"/>
          </a:p>
          <a:p>
            <a:r>
              <a:rPr lang="en-SG" sz="1600" b="1" dirty="0" smtClean="0"/>
              <a:t>Navigational </a:t>
            </a:r>
            <a:r>
              <a:rPr lang="en-SG" sz="1600" b="1" dirty="0"/>
              <a:t>Skills: </a:t>
            </a:r>
            <a:r>
              <a:rPr lang="en-SG" sz="1600" dirty="0"/>
              <a:t>Trunk The trunk provides the main structure for the tree. It stands for the navigational skills that help us navigate everyday life, manage complexities, and make decisions. Just as the trunk supports the entire tree, these skills support our daily actions and choices. </a:t>
            </a:r>
            <a:endParaRPr lang="en-SG" sz="1600" dirty="0" smtClean="0"/>
          </a:p>
          <a:p>
            <a:r>
              <a:rPr lang="en-SG" sz="1600" b="1" dirty="0" smtClean="0"/>
              <a:t>Connectivity </a:t>
            </a:r>
            <a:r>
              <a:rPr lang="en-SG" sz="1600" b="1" dirty="0"/>
              <a:t>Skills: </a:t>
            </a:r>
            <a:r>
              <a:rPr lang="en-SG" sz="1600" dirty="0"/>
              <a:t>Branches The branches reach out in various directions, connecting the tree to its surroundings. These signify connectivity skills that help us interact, communicate, and collaborate with others. Each branch may have different lengths and directions, representing the diversity of our interactions and </a:t>
            </a:r>
            <a:r>
              <a:rPr lang="en-SG" sz="1600" dirty="0" smtClean="0"/>
              <a:t>relationships</a:t>
            </a:r>
          </a:p>
          <a:p>
            <a:r>
              <a:rPr lang="en-SG" sz="1600" b="1" dirty="0" smtClean="0"/>
              <a:t>Visionary </a:t>
            </a:r>
            <a:r>
              <a:rPr lang="en-SG" sz="1600" b="1" dirty="0"/>
              <a:t>Skills: </a:t>
            </a:r>
            <a:r>
              <a:rPr lang="en-SG" sz="1600" dirty="0"/>
              <a:t>Leaves and Fruits The leaves capture sunlight and are vital for the tree’s growth, while fruits represent the tree’s contribution to the world. Together, they embody visionary skills, the skills that allow us to innovate and produce meaningful outcomes.</a:t>
            </a:r>
            <a:endParaRPr lang="en-US" sz="1600" dirty="0"/>
          </a:p>
        </p:txBody>
      </p:sp>
      <p:sp>
        <p:nvSpPr>
          <p:cNvPr id="9" name="Rectangle 8"/>
          <p:cNvSpPr/>
          <p:nvPr/>
        </p:nvSpPr>
        <p:spPr>
          <a:xfrm>
            <a:off x="5495009" y="293601"/>
            <a:ext cx="6096000" cy="923330"/>
          </a:xfrm>
          <a:prstGeom prst="rect">
            <a:avLst/>
          </a:prstGeom>
        </p:spPr>
        <p:txBody>
          <a:bodyPr>
            <a:spAutoFit/>
          </a:bodyPr>
          <a:lstStyle/>
          <a:p>
            <a:r>
              <a:rPr lang="en-SG" b="1" dirty="0"/>
              <a:t>The Tree Model of Soft Skills </a:t>
            </a:r>
            <a:r>
              <a:rPr lang="en-SG" dirty="0"/>
              <a:t>for the twenty-first century illustrates the interconnectedness and hierarchical nature of the soft skills categories. </a:t>
            </a:r>
            <a:r>
              <a:rPr lang="en-SG" dirty="0" smtClean="0"/>
              <a:t> ( </a:t>
            </a:r>
            <a:r>
              <a:rPr lang="it-IT" dirty="0"/>
              <a:t>Sala et al. </a:t>
            </a:r>
            <a:r>
              <a:rPr lang="it-IT" dirty="0" smtClean="0"/>
              <a:t>,2020</a:t>
            </a:r>
            <a:r>
              <a:rPr lang="it-IT" dirty="0"/>
              <a:t>, p. </a:t>
            </a:r>
            <a:r>
              <a:rPr lang="it-IT" dirty="0" smtClean="0"/>
              <a:t>21) </a:t>
            </a:r>
            <a:endParaRPr lang="en-US" dirty="0"/>
          </a:p>
        </p:txBody>
      </p:sp>
    </p:spTree>
    <p:extLst>
      <p:ext uri="{BB962C8B-B14F-4D97-AF65-F5344CB8AC3E}">
        <p14:creationId xmlns:p14="http://schemas.microsoft.com/office/powerpoint/2010/main" val="3931092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Intrinsic Skills</a:t>
            </a:r>
            <a:endParaRPr lang="en-US" dirty="0"/>
          </a:p>
        </p:txBody>
      </p:sp>
      <p:sp>
        <p:nvSpPr>
          <p:cNvPr id="3" name="Text Placeholder 2"/>
          <p:cNvSpPr>
            <a:spLocks noGrp="1"/>
          </p:cNvSpPr>
          <p:nvPr>
            <p:ph type="body" sz="quarter" idx="32"/>
          </p:nvPr>
        </p:nvSpPr>
        <p:spPr/>
        <p:txBody>
          <a:bodyPr/>
          <a:lstStyle/>
          <a:p>
            <a:r>
              <a:rPr lang="en-SG" dirty="0" smtClean="0"/>
              <a:t>These </a:t>
            </a:r>
            <a:r>
              <a:rPr lang="en-SG" dirty="0"/>
              <a:t>skills are intrinsic as they originate from within the individual and are crucial for personal and emotional growth. They involve a deep understanding of oneself, managing one’s emotions and </a:t>
            </a:r>
            <a:r>
              <a:rPr lang="en-SG" dirty="0" err="1"/>
              <a:t>behaviors</a:t>
            </a:r>
            <a:r>
              <a:rPr lang="en-SG" dirty="0"/>
              <a:t>, and a constructive approach to challenging situations. Included here are: </a:t>
            </a:r>
            <a:endParaRPr lang="en-US" dirty="0"/>
          </a:p>
        </p:txBody>
      </p:sp>
      <p:sp>
        <p:nvSpPr>
          <p:cNvPr id="4" name="Content Placeholder 3"/>
          <p:cNvSpPr>
            <a:spLocks noGrp="1"/>
          </p:cNvSpPr>
          <p:nvPr>
            <p:ph idx="1"/>
          </p:nvPr>
        </p:nvSpPr>
        <p:spPr>
          <a:xfrm>
            <a:off x="432000" y="1970468"/>
            <a:ext cx="11328000" cy="4220782"/>
          </a:xfrm>
        </p:spPr>
        <p:txBody>
          <a:bodyPr/>
          <a:lstStyle/>
          <a:p>
            <a:r>
              <a:rPr lang="en-SG" dirty="0"/>
              <a:t>Self-awareness</a:t>
            </a:r>
          </a:p>
          <a:p>
            <a:r>
              <a:rPr lang="en-SG" dirty="0"/>
              <a:t>Self-control</a:t>
            </a:r>
          </a:p>
          <a:p>
            <a:r>
              <a:rPr lang="en-SG" dirty="0"/>
              <a:t>Self-motivation</a:t>
            </a:r>
          </a:p>
          <a:p>
            <a:r>
              <a:rPr lang="en-SG" dirty="0"/>
              <a:t>Self-regulation</a:t>
            </a:r>
          </a:p>
          <a:p>
            <a:r>
              <a:rPr lang="en-SG" dirty="0"/>
              <a:t>Emotional Intelligence</a:t>
            </a:r>
          </a:p>
          <a:p>
            <a:r>
              <a:rPr lang="en-SG" dirty="0"/>
              <a:t>Grit</a:t>
            </a:r>
          </a:p>
          <a:p>
            <a:r>
              <a:rPr lang="en-SG" dirty="0"/>
              <a:t>Growth </a:t>
            </a:r>
            <a:r>
              <a:rPr lang="en-SG" dirty="0" err="1"/>
              <a:t>Mindset</a:t>
            </a:r>
            <a:endParaRPr lang="en-SG" dirty="0"/>
          </a:p>
          <a:p>
            <a:r>
              <a:rPr lang="en-SG" dirty="0"/>
              <a:t>Ethics</a:t>
            </a:r>
          </a:p>
          <a:p>
            <a:r>
              <a:rPr lang="en-SG" dirty="0"/>
              <a:t>Resilience</a:t>
            </a:r>
          </a:p>
          <a:p>
            <a:r>
              <a:rPr lang="en-SG" dirty="0"/>
              <a:t>Positive Attitude Toward Challenges and Problems</a:t>
            </a:r>
            <a:endParaRPr lang="en-US" dirty="0"/>
          </a:p>
        </p:txBody>
      </p:sp>
      <p:sp>
        <p:nvSpPr>
          <p:cNvPr id="5" name="Footer Placeholder 4"/>
          <p:cNvSpPr>
            <a:spLocks noGrp="1"/>
          </p:cNvSpPr>
          <p:nvPr>
            <p:ph type="ftr" sz="quarter" idx="12"/>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33"/>
          </p:nvPr>
        </p:nvSpPr>
        <p:spPr/>
        <p:txBody>
          <a:bodyPr/>
          <a:lstStyle/>
          <a:p>
            <a:fld id="{19B51A1E-902D-48AF-9020-955120F399B6}" type="slidenum">
              <a:rPr lang="en-US" noProof="0" smtClean="0"/>
              <a:pPr/>
              <a:t>14</a:t>
            </a:fld>
            <a:endParaRPr lang="en-US" noProof="0" dirty="0"/>
          </a:p>
        </p:txBody>
      </p:sp>
    </p:spTree>
    <p:extLst>
      <p:ext uri="{BB962C8B-B14F-4D97-AF65-F5344CB8AC3E}">
        <p14:creationId xmlns:p14="http://schemas.microsoft.com/office/powerpoint/2010/main" val="3331003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Navigational Skills</a:t>
            </a:r>
          </a:p>
        </p:txBody>
      </p:sp>
      <p:sp>
        <p:nvSpPr>
          <p:cNvPr id="3" name="Text Placeholder 2"/>
          <p:cNvSpPr>
            <a:spLocks noGrp="1"/>
          </p:cNvSpPr>
          <p:nvPr>
            <p:ph type="body" sz="quarter" idx="32"/>
          </p:nvPr>
        </p:nvSpPr>
        <p:spPr/>
        <p:txBody>
          <a:bodyPr/>
          <a:lstStyle/>
          <a:p>
            <a:r>
              <a:rPr lang="en-SG" dirty="0"/>
              <a:t>These skills are unified by their focus on navigating through challenges and uncertainties in various environments. They involve the capacity to </a:t>
            </a:r>
            <a:r>
              <a:rPr lang="en-SG" dirty="0" err="1"/>
              <a:t>analyze</a:t>
            </a:r>
            <a:r>
              <a:rPr lang="en-SG" dirty="0"/>
              <a:t> and act effectively in situations that are complex, uncertain, or rapidly changing. Included here are:</a:t>
            </a:r>
            <a:endParaRPr lang="en-US" dirty="0"/>
          </a:p>
        </p:txBody>
      </p:sp>
      <p:sp>
        <p:nvSpPr>
          <p:cNvPr id="4" name="Content Placeholder 3"/>
          <p:cNvSpPr>
            <a:spLocks noGrp="1"/>
          </p:cNvSpPr>
          <p:nvPr>
            <p:ph idx="1"/>
          </p:nvPr>
        </p:nvSpPr>
        <p:spPr>
          <a:xfrm>
            <a:off x="432000" y="1970468"/>
            <a:ext cx="11328000" cy="4220782"/>
          </a:xfrm>
        </p:spPr>
        <p:txBody>
          <a:bodyPr/>
          <a:lstStyle/>
          <a:p>
            <a:r>
              <a:rPr lang="en-SG" dirty="0"/>
              <a:t>Adaptability</a:t>
            </a:r>
          </a:p>
          <a:p>
            <a:r>
              <a:rPr lang="en-SG" dirty="0"/>
              <a:t>Flexibility</a:t>
            </a:r>
          </a:p>
          <a:p>
            <a:r>
              <a:rPr lang="en-SG" dirty="0" smtClean="0"/>
              <a:t>Complexity </a:t>
            </a:r>
            <a:r>
              <a:rPr lang="en-SG" dirty="0"/>
              <a:t>Management</a:t>
            </a:r>
          </a:p>
          <a:p>
            <a:r>
              <a:rPr lang="en-SG" dirty="0"/>
              <a:t>Coping with Uncertainty, Ambiguity, and Risk</a:t>
            </a:r>
          </a:p>
          <a:p>
            <a:r>
              <a:rPr lang="en-SG" dirty="0"/>
              <a:t>Critical Thinking</a:t>
            </a:r>
          </a:p>
          <a:p>
            <a:r>
              <a:rPr lang="en-SG" dirty="0"/>
              <a:t>Exploratory Thinking</a:t>
            </a:r>
          </a:p>
          <a:p>
            <a:r>
              <a:rPr lang="en-SG" dirty="0"/>
              <a:t>Problem-Solving</a:t>
            </a:r>
          </a:p>
          <a:p>
            <a:r>
              <a:rPr lang="en-SG" dirty="0"/>
              <a:t>Time Management</a:t>
            </a:r>
            <a:endParaRPr lang="en-US" dirty="0"/>
          </a:p>
        </p:txBody>
      </p:sp>
      <p:sp>
        <p:nvSpPr>
          <p:cNvPr id="5" name="Footer Placeholder 4"/>
          <p:cNvSpPr>
            <a:spLocks noGrp="1"/>
          </p:cNvSpPr>
          <p:nvPr>
            <p:ph type="ftr" sz="quarter" idx="12"/>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33"/>
          </p:nvPr>
        </p:nvSpPr>
        <p:spPr/>
        <p:txBody>
          <a:bodyPr/>
          <a:lstStyle/>
          <a:p>
            <a:fld id="{19B51A1E-902D-48AF-9020-955120F399B6}" type="slidenum">
              <a:rPr lang="en-US" noProof="0" smtClean="0"/>
              <a:pPr/>
              <a:t>15</a:t>
            </a:fld>
            <a:endParaRPr lang="en-US" noProof="0" dirty="0"/>
          </a:p>
        </p:txBody>
      </p:sp>
    </p:spTree>
    <p:extLst>
      <p:ext uri="{BB962C8B-B14F-4D97-AF65-F5344CB8AC3E}">
        <p14:creationId xmlns:p14="http://schemas.microsoft.com/office/powerpoint/2010/main" val="289274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Connectivity Skills</a:t>
            </a:r>
          </a:p>
        </p:txBody>
      </p:sp>
      <p:sp>
        <p:nvSpPr>
          <p:cNvPr id="3" name="Text Placeholder 2"/>
          <p:cNvSpPr>
            <a:spLocks noGrp="1"/>
          </p:cNvSpPr>
          <p:nvPr>
            <p:ph type="body" sz="quarter" idx="32"/>
          </p:nvPr>
        </p:nvSpPr>
        <p:spPr>
          <a:xfrm>
            <a:off x="420487" y="1008000"/>
            <a:ext cx="11339513" cy="360000"/>
          </a:xfrm>
        </p:spPr>
        <p:txBody>
          <a:bodyPr/>
          <a:lstStyle/>
          <a:p>
            <a:r>
              <a:rPr lang="en-SG" dirty="0"/>
              <a:t>The skills in this category are </a:t>
            </a:r>
            <a:r>
              <a:rPr lang="en-SG" dirty="0" smtClean="0"/>
              <a:t>centred </a:t>
            </a:r>
            <a:r>
              <a:rPr lang="en-SG" dirty="0"/>
              <a:t>around effective interaction with others. </a:t>
            </a:r>
            <a:r>
              <a:rPr lang="en-SG" dirty="0" smtClean="0"/>
              <a:t>They emphasize </a:t>
            </a:r>
            <a:r>
              <a:rPr lang="en-SG" dirty="0"/>
              <a:t>the importance of understanding and relating to people from </a:t>
            </a:r>
            <a:r>
              <a:rPr lang="en-SG" dirty="0" smtClean="0"/>
              <a:t>diverse backgrounds</a:t>
            </a:r>
            <a:r>
              <a:rPr lang="en-SG" dirty="0"/>
              <a:t>. Included here are:</a:t>
            </a:r>
            <a:endParaRPr lang="en-US" dirty="0"/>
          </a:p>
        </p:txBody>
      </p:sp>
      <p:sp>
        <p:nvSpPr>
          <p:cNvPr id="4" name="Content Placeholder 3"/>
          <p:cNvSpPr>
            <a:spLocks noGrp="1"/>
          </p:cNvSpPr>
          <p:nvPr>
            <p:ph idx="1"/>
          </p:nvPr>
        </p:nvSpPr>
        <p:spPr>
          <a:xfrm>
            <a:off x="432000" y="1944710"/>
            <a:ext cx="11328000" cy="4246540"/>
          </a:xfrm>
        </p:spPr>
        <p:txBody>
          <a:bodyPr/>
          <a:lstStyle/>
          <a:p>
            <a:r>
              <a:rPr lang="en-SG" dirty="0"/>
              <a:t>Active Listening</a:t>
            </a:r>
          </a:p>
          <a:p>
            <a:r>
              <a:rPr lang="en-SG" dirty="0"/>
              <a:t>Communication</a:t>
            </a:r>
          </a:p>
          <a:p>
            <a:r>
              <a:rPr lang="en-SG" dirty="0"/>
              <a:t>Collaboration</a:t>
            </a:r>
          </a:p>
          <a:p>
            <a:r>
              <a:rPr lang="en-SG" dirty="0"/>
              <a:t>Negotiating</a:t>
            </a:r>
          </a:p>
          <a:p>
            <a:r>
              <a:rPr lang="en-SG" dirty="0"/>
              <a:t>Conflict Resolution</a:t>
            </a:r>
          </a:p>
          <a:p>
            <a:r>
              <a:rPr lang="en-SG" dirty="0"/>
              <a:t>Cultural Intelligence</a:t>
            </a:r>
          </a:p>
          <a:p>
            <a:r>
              <a:rPr lang="en-SG" dirty="0"/>
              <a:t>Empathy</a:t>
            </a:r>
          </a:p>
          <a:p>
            <a:r>
              <a:rPr lang="en-SG" dirty="0"/>
              <a:t>Teamwork</a:t>
            </a:r>
          </a:p>
          <a:p>
            <a:r>
              <a:rPr lang="en-SG" dirty="0"/>
              <a:t>Understanding of Social Realities</a:t>
            </a:r>
            <a:endParaRPr lang="en-US" dirty="0"/>
          </a:p>
        </p:txBody>
      </p:sp>
      <p:sp>
        <p:nvSpPr>
          <p:cNvPr id="5" name="Footer Placeholder 4"/>
          <p:cNvSpPr>
            <a:spLocks noGrp="1"/>
          </p:cNvSpPr>
          <p:nvPr>
            <p:ph type="ftr" sz="quarter" idx="12"/>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33"/>
          </p:nvPr>
        </p:nvSpPr>
        <p:spPr/>
        <p:txBody>
          <a:bodyPr/>
          <a:lstStyle/>
          <a:p>
            <a:fld id="{19B51A1E-902D-48AF-9020-955120F399B6}" type="slidenum">
              <a:rPr lang="en-US" noProof="0" smtClean="0"/>
              <a:pPr/>
              <a:t>16</a:t>
            </a:fld>
            <a:endParaRPr lang="en-US" noProof="0" dirty="0"/>
          </a:p>
        </p:txBody>
      </p:sp>
    </p:spTree>
    <p:extLst>
      <p:ext uri="{BB962C8B-B14F-4D97-AF65-F5344CB8AC3E}">
        <p14:creationId xmlns:p14="http://schemas.microsoft.com/office/powerpoint/2010/main" val="4122834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Visionary Skills</a:t>
            </a:r>
          </a:p>
        </p:txBody>
      </p:sp>
      <p:sp>
        <p:nvSpPr>
          <p:cNvPr id="3" name="Text Placeholder 2"/>
          <p:cNvSpPr>
            <a:spLocks noGrp="1"/>
          </p:cNvSpPr>
          <p:nvPr>
            <p:ph type="body" sz="quarter" idx="32"/>
          </p:nvPr>
        </p:nvSpPr>
        <p:spPr/>
        <p:txBody>
          <a:bodyPr/>
          <a:lstStyle/>
          <a:p>
            <a:r>
              <a:rPr lang="en-SG" dirty="0"/>
              <a:t>These skills are future-oriented and involve thinking beyond the current norms. They emphasize the importance of envisioning new possibilities, leveraging technological advancements, and leading others toward innovative directions. Included here are:</a:t>
            </a:r>
            <a:endParaRPr lang="en-US" dirty="0"/>
          </a:p>
        </p:txBody>
      </p:sp>
      <p:sp>
        <p:nvSpPr>
          <p:cNvPr id="4" name="Content Placeholder 3"/>
          <p:cNvSpPr>
            <a:spLocks noGrp="1"/>
          </p:cNvSpPr>
          <p:nvPr>
            <p:ph idx="1"/>
          </p:nvPr>
        </p:nvSpPr>
        <p:spPr>
          <a:xfrm>
            <a:off x="432000" y="2125014"/>
            <a:ext cx="11328000" cy="4066236"/>
          </a:xfrm>
        </p:spPr>
        <p:txBody>
          <a:bodyPr/>
          <a:lstStyle/>
          <a:p>
            <a:r>
              <a:rPr lang="en-US" dirty="0"/>
              <a:t>Creativity</a:t>
            </a:r>
          </a:p>
          <a:p>
            <a:r>
              <a:rPr lang="en-US" dirty="0"/>
              <a:t>Digital Literacy</a:t>
            </a:r>
          </a:p>
          <a:p>
            <a:r>
              <a:rPr lang="en-US" dirty="0"/>
              <a:t>Leadership </a:t>
            </a:r>
          </a:p>
        </p:txBody>
      </p:sp>
      <p:sp>
        <p:nvSpPr>
          <p:cNvPr id="5" name="Footer Placeholder 4"/>
          <p:cNvSpPr>
            <a:spLocks noGrp="1"/>
          </p:cNvSpPr>
          <p:nvPr>
            <p:ph type="ftr" sz="quarter" idx="12"/>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33"/>
          </p:nvPr>
        </p:nvSpPr>
        <p:spPr/>
        <p:txBody>
          <a:bodyPr/>
          <a:lstStyle/>
          <a:p>
            <a:fld id="{19B51A1E-902D-48AF-9020-955120F399B6}" type="slidenum">
              <a:rPr lang="en-US" noProof="0" smtClean="0"/>
              <a:pPr/>
              <a:t>17</a:t>
            </a:fld>
            <a:endParaRPr lang="en-US" noProof="0" dirty="0"/>
          </a:p>
        </p:txBody>
      </p:sp>
    </p:spTree>
    <p:extLst>
      <p:ext uri="{BB962C8B-B14F-4D97-AF65-F5344CB8AC3E}">
        <p14:creationId xmlns:p14="http://schemas.microsoft.com/office/powerpoint/2010/main" val="713392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965916" y="908996"/>
            <a:ext cx="10573554" cy="3108543"/>
          </a:xfrm>
          <a:prstGeom prst="rect">
            <a:avLst/>
          </a:prstGeom>
          <a:noFill/>
        </p:spPr>
        <p:txBody>
          <a:bodyPr wrap="square" rtlCol="0">
            <a:spAutoFit/>
          </a:bodyPr>
          <a:lstStyle/>
          <a:p>
            <a:pPr marL="514350" indent="-514350">
              <a:buFont typeface="+mj-lt"/>
              <a:buAutoNum type="arabicPeriod"/>
            </a:pPr>
            <a:r>
              <a:rPr lang="en-SG" sz="2800" b="1" dirty="0" smtClean="0"/>
              <a:t>Find simple definitions for given skills assigned to your team </a:t>
            </a:r>
          </a:p>
          <a:p>
            <a:pPr marL="514350" indent="-514350">
              <a:buFont typeface="+mj-lt"/>
              <a:buAutoNum type="arabicPeriod"/>
            </a:pPr>
            <a:r>
              <a:rPr lang="en-SG" sz="2800" b="1" dirty="0" smtClean="0"/>
              <a:t>Design a quick survey  on paper </a:t>
            </a:r>
          </a:p>
          <a:p>
            <a:pPr marL="514350" indent="-514350">
              <a:buFont typeface="+mj-lt"/>
              <a:buAutoNum type="arabicPeriod"/>
            </a:pPr>
            <a:r>
              <a:rPr lang="en-SG" sz="2800" b="1" dirty="0" smtClean="0"/>
              <a:t>Carry out  the survey  and present your findings on what soft skills are considered most important  in a teacher by students of Aquinas. </a:t>
            </a:r>
          </a:p>
          <a:p>
            <a:pPr marL="514350" indent="-514350">
              <a:buFont typeface="+mj-lt"/>
              <a:buAutoNum type="arabicPeriod"/>
            </a:pPr>
            <a:r>
              <a:rPr lang="en-SG" sz="2800" b="1" dirty="0" smtClean="0"/>
              <a:t>Conclude with your own opinion on the importance of soft skills in teachers with real life examples </a:t>
            </a:r>
            <a:endParaRPr lang="en-US" sz="2800" dirty="0"/>
          </a:p>
        </p:txBody>
      </p:sp>
      <p:sp>
        <p:nvSpPr>
          <p:cNvPr id="8" name="Rectangle 7"/>
          <p:cNvSpPr/>
          <p:nvPr/>
        </p:nvSpPr>
        <p:spPr>
          <a:xfrm>
            <a:off x="9799990" y="5473522"/>
            <a:ext cx="2392010" cy="707886"/>
          </a:xfrm>
          <a:prstGeom prst="rect">
            <a:avLst/>
          </a:prstGeom>
        </p:spPr>
        <p:txBody>
          <a:bodyPr wrap="square">
            <a:spAutoFit/>
          </a:bodyPr>
          <a:lstStyle/>
          <a:p>
            <a:r>
              <a:rPr lang="en-SG" sz="4000" b="1" dirty="0"/>
              <a:t>Activity </a:t>
            </a:r>
            <a:r>
              <a:rPr lang="en-SG" sz="4000" b="1" dirty="0" smtClean="0"/>
              <a:t>2</a:t>
            </a:r>
            <a:endParaRPr lang="en-SG" sz="4000" b="1" dirty="0"/>
          </a:p>
        </p:txBody>
      </p:sp>
      <p:pic>
        <p:nvPicPr>
          <p:cNvPr id="2050" name="Picture 2" descr="30 Minute Countdown PNGs for Free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4550" y="4682946"/>
            <a:ext cx="2895600" cy="1581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509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xmlns="" id="{EFA08948-2B6F-46B1-9D2D-8D7B2B3FBD56}"/>
              </a:ext>
              <a:ext uri="{C183D7F6-B498-43B3-948B-1728B52AA6E4}">
                <adec:decorative xmlns:adec="http://schemas.microsoft.com/office/drawing/2017/decorative" xmlns="" val="1"/>
              </a:ext>
            </a:extLst>
          </p:cNvPr>
          <p:cNvSpPr/>
          <p:nvPr/>
        </p:nvSpPr>
        <p:spPr>
          <a:xfrm>
            <a:off x="9348588" y="3688075"/>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xmlns="" id="{3560F281-4FF6-4617-A809-AC9C15ECF18A}"/>
              </a:ext>
            </a:extLst>
          </p:cNvPr>
          <p:cNvSpPr>
            <a:spLocks noGrp="1"/>
          </p:cNvSpPr>
          <p:nvPr>
            <p:ph type="title"/>
          </p:nvPr>
        </p:nvSpPr>
        <p:spPr>
          <a:xfrm>
            <a:off x="1262130" y="3802899"/>
            <a:ext cx="10478609" cy="1735016"/>
          </a:xfrm>
        </p:spPr>
        <p:txBody>
          <a:bodyPr/>
          <a:lstStyle/>
          <a:p>
            <a:r>
              <a:rPr lang="en-US" dirty="0" smtClean="0"/>
              <a:t>Further Reading </a:t>
            </a:r>
            <a:endParaRPr lang="en-US" dirty="0"/>
          </a:p>
        </p:txBody>
      </p:sp>
      <p:sp>
        <p:nvSpPr>
          <p:cNvPr id="6" name="Slide Number Placeholder 5">
            <a:extLst>
              <a:ext uri="{FF2B5EF4-FFF2-40B4-BE49-F238E27FC236}">
                <a16:creationId xmlns:a16="http://schemas.microsoft.com/office/drawing/2014/main" xmlns=""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19</a:t>
            </a:fld>
            <a:endParaRPr lang="en-US" dirty="0"/>
          </a:p>
        </p:txBody>
      </p:sp>
      <p:sp>
        <p:nvSpPr>
          <p:cNvPr id="7" name="Content Placeholder 6"/>
          <p:cNvSpPr>
            <a:spLocks noGrp="1"/>
          </p:cNvSpPr>
          <p:nvPr>
            <p:ph sz="half" idx="1"/>
          </p:nvPr>
        </p:nvSpPr>
        <p:spPr>
          <a:xfrm>
            <a:off x="1081825" y="573288"/>
            <a:ext cx="10470524" cy="3483557"/>
          </a:xfrm>
        </p:spPr>
        <p:txBody>
          <a:bodyPr/>
          <a:lstStyle/>
          <a:p>
            <a:pPr marL="457200" indent="-457200" fontAlgn="t">
              <a:buAutoNum type="arabicPeriod"/>
            </a:pPr>
            <a:endParaRPr lang="en-US" sz="2000" b="1" dirty="0" smtClean="0"/>
          </a:p>
          <a:p>
            <a:pPr marL="457200" indent="-457200" fontAlgn="t">
              <a:buAutoNum type="arabicPeriod"/>
            </a:pPr>
            <a:endParaRPr lang="en-US" sz="2000" b="1" dirty="0"/>
          </a:p>
          <a:p>
            <a:pPr marL="457200" indent="-457200" fontAlgn="t">
              <a:buAutoNum type="arabicPeriod"/>
            </a:pPr>
            <a:endParaRPr lang="en-US" sz="2000" b="1" dirty="0" smtClean="0"/>
          </a:p>
          <a:p>
            <a:pPr marL="457200" indent="-457200" fontAlgn="t">
              <a:buAutoNum type="arabicPeriod"/>
            </a:pPr>
            <a:r>
              <a:rPr lang="en-US" sz="2000" b="1" dirty="0" err="1"/>
              <a:t>Kubátová</a:t>
            </a:r>
            <a:r>
              <a:rPr lang="en-US" sz="2000" b="1" dirty="0"/>
              <a:t>, J., Müller, M., </a:t>
            </a:r>
            <a:r>
              <a:rPr lang="en-US" sz="2000" b="1" dirty="0" err="1"/>
              <a:t>Kosina</a:t>
            </a:r>
            <a:r>
              <a:rPr lang="en-US" sz="2000" b="1" dirty="0"/>
              <a:t>, D., </a:t>
            </a:r>
            <a:r>
              <a:rPr lang="en-US" sz="2000" b="1" dirty="0" err="1"/>
              <a:t>Kročil</a:t>
            </a:r>
            <a:r>
              <a:rPr lang="en-US" sz="2000" b="1" dirty="0"/>
              <a:t>, O., &amp; </a:t>
            </a:r>
            <a:r>
              <a:rPr lang="en-US" sz="2000" b="1" dirty="0" err="1"/>
              <a:t>Slavíčková</a:t>
            </a:r>
            <a:r>
              <a:rPr lang="en-US" sz="2000" b="1" dirty="0"/>
              <a:t>, P. (2023). Soft skills for the 21st century: Defining a framework for navigating human-centered development in an AI-driven world. Springer.</a:t>
            </a:r>
          </a:p>
          <a:p>
            <a:pPr marL="0" indent="0" fontAlgn="t">
              <a:buNone/>
            </a:pPr>
            <a:endParaRPr lang="en-SG" sz="2000" b="1" dirty="0"/>
          </a:p>
          <a:p>
            <a:pPr marL="0" indent="0" fontAlgn="t">
              <a:buNone/>
            </a:pPr>
            <a:endParaRPr lang="en-SG" sz="2000" b="1" dirty="0"/>
          </a:p>
          <a:p>
            <a:pPr marL="0" indent="0" fontAlgn="t">
              <a:buNone/>
            </a:pPr>
            <a:endParaRPr lang="en-SG" sz="2000" b="1" dirty="0" smtClean="0"/>
          </a:p>
          <a:p>
            <a:pPr marL="457200" indent="-457200" fontAlgn="t">
              <a:buAutoNum type="arabicPeriod"/>
            </a:pPr>
            <a:endParaRPr lang="en-US" sz="2000" dirty="0"/>
          </a:p>
        </p:txBody>
      </p:sp>
    </p:spTree>
    <p:extLst>
      <p:ext uri="{BB962C8B-B14F-4D97-AF65-F5344CB8AC3E}">
        <p14:creationId xmlns:p14="http://schemas.microsoft.com/office/powerpoint/2010/main" val="892277712"/>
      </p:ext>
    </p:extLst>
  </p:cSld>
  <p:clrMapOvr>
    <a:masterClrMapping/>
  </p:clrMapOvr>
</p:sld>
</file>

<file path=ppt/theme/theme1.xml><?xml version="1.0" encoding="utf-8"?>
<a:theme xmlns:a="http://schemas.openxmlformats.org/drawingml/2006/main" name="Office Theme">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9">
      <a:majorFont>
        <a:latin typeface="Corbel"/>
        <a:ea typeface=""/>
        <a:cs typeface=""/>
      </a:majorFont>
      <a:minorFont>
        <a:latin typeface="Candar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6411250_Bright business presentation_AAS_v3" id="{57D58BC9-3F05-45D4-81CD-7BA898B4CAAD}" vid="{0F92AA19-00D6-4C71-B13F-219D7994A0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90D0D0-7C1D-47FF-A2F0-9937AA567A3D}">
  <ds:schemaRefs>
    <ds:schemaRef ds:uri="71af3243-3dd4-4a8d-8c0d-dd76da1f02a5"/>
    <ds:schemaRef ds:uri="16c05727-aa75-4e4a-9b5f-8a80a1165891"/>
    <ds:schemaRef ds:uri="http://www.w3.org/XML/1998/namespace"/>
    <ds:schemaRef ds:uri="http://schemas.microsoft.com/office/2006/documentManagement/types"/>
    <ds:schemaRef ds:uri="http://purl.org/dc/dcmitype/"/>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B8E15EA0-2F38-456B-B156-038699A5D17F}">
  <ds:schemaRefs>
    <ds:schemaRef ds:uri="http://schemas.microsoft.com/sharepoint/v3/contenttype/forms"/>
  </ds:schemaRefs>
</ds:datastoreItem>
</file>

<file path=customXml/itemProps3.xml><?xml version="1.0" encoding="utf-8"?>
<ds:datastoreItem xmlns:ds="http://schemas.openxmlformats.org/officeDocument/2006/customXml" ds:itemID="{2EDB5DD7-8DCC-4069-9EB3-5D09818665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Bright business presentation</Template>
  <TotalTime>0</TotalTime>
  <Words>1280</Words>
  <Application>Microsoft Office PowerPoint</Application>
  <PresentationFormat>Widescreen</PresentationFormat>
  <Paragraphs>187</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Candara</vt:lpstr>
      <vt:lpstr>Corbel</vt:lpstr>
      <vt:lpstr>Times New Roman</vt:lpstr>
      <vt:lpstr>Office Theme</vt:lpstr>
      <vt:lpstr>PowerPoint Presentation</vt:lpstr>
      <vt:lpstr>Soft Skills for Teachers </vt:lpstr>
      <vt:lpstr>Objectives </vt:lpstr>
      <vt:lpstr>Course Content </vt:lpstr>
      <vt:lpstr> Grading  </vt:lpstr>
      <vt:lpstr>Day One  -  Session 1</vt:lpstr>
      <vt:lpstr> Origin  </vt:lpstr>
      <vt:lpstr>PowerPoint Presentation</vt:lpstr>
      <vt:lpstr>PowerPoint Presentation</vt:lpstr>
      <vt:lpstr>PowerPoint Presentation</vt:lpstr>
      <vt:lpstr>PowerPoint Presentation</vt:lpstr>
      <vt:lpstr>Categorization of 21st century skills </vt:lpstr>
      <vt:lpstr>PowerPoint Presentation</vt:lpstr>
      <vt:lpstr>Intrinsic Skills</vt:lpstr>
      <vt:lpstr>Navigational Skills</vt:lpstr>
      <vt:lpstr>Connectivity Skills</vt:lpstr>
      <vt:lpstr>Visionary Skills</vt:lpstr>
      <vt:lpstr>PowerPoint Presentation</vt:lpstr>
      <vt:lpstr>Further Reading </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2026-02-19T15:06:52Z</dcterms:created>
  <dcterms:modified xsi:type="dcterms:W3CDTF">2026-02-22T12:17:33Z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